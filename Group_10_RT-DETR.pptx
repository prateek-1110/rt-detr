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0"/>
  </p:notes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Calibri (MS) Italics" charset="1" panose="020F05020202040A0204"/>
      <p:regular r:id="rId13"/>
    </p:embeddedFont>
    <p:embeddedFont>
      <p:font typeface="Calibri (MS) Bold" charset="1" panose="020F0702030404030204"/>
      <p:regular r:id="rId14"/>
    </p:embeddedFont>
    <p:embeddedFont>
      <p:font typeface="Calibri (MS)" charset="1" panose="020F0502020204030204"/>
      <p:regular r:id="rId15"/>
    </p:embeddedFont>
    <p:embeddedFont>
      <p:font typeface="Calibri (MS) Bold Italics" charset="1" panose="020F07020304040A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notesMasters/notesMaster1.xml" Type="http://schemas.openxmlformats.org/officeDocument/2006/relationships/notesMaster"/><Relationship Id="rId11" Target="theme/theme2.xml" Type="http://schemas.openxmlformats.org/officeDocument/2006/relationships/theme"/><Relationship Id="rId12" Target="notesSlides/notesSlide1.xml" Type="http://schemas.openxmlformats.org/officeDocument/2006/relationships/notes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Slides/notesSlide2.xml" Type="http://schemas.openxmlformats.org/officeDocument/2006/relationships/notesSlide"/><Relationship Id="rId17" Target="fonts/font17.fntdata" Type="http://schemas.openxmlformats.org/officeDocument/2006/relationships/font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261330" cy="156210"/>
            <a:chOff x="0" y="0"/>
            <a:chExt cx="2434844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23039" cy="182880"/>
            </a:xfrm>
            <a:custGeom>
              <a:avLst/>
              <a:gdLst/>
              <a:ahLst/>
              <a:cxnLst/>
              <a:rect r="r" b="b" t="t" l="l"/>
              <a:pathLst>
                <a:path h="18288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48439" cy="208280"/>
            </a:xfrm>
            <a:custGeom>
              <a:avLst/>
              <a:gdLst/>
              <a:ahLst/>
              <a:cxnLst/>
              <a:rect r="r" b="b" t="t" l="l"/>
              <a:pathLst>
                <a:path h="208280" w="24348439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95580"/>
                  </a:lnTo>
                  <a:cubicBezTo>
                    <a:pt x="24348439" y="202565"/>
                    <a:pt x="24342725" y="208280"/>
                    <a:pt x="24335739" y="208280"/>
                  </a:cubicBezTo>
                  <a:lnTo>
                    <a:pt x="12700" y="208280"/>
                  </a:lnTo>
                  <a:cubicBezTo>
                    <a:pt x="5715" y="208280"/>
                    <a:pt x="0" y="202565"/>
                    <a:pt x="0" y="1955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95580"/>
                  </a:lnTo>
                  <a:lnTo>
                    <a:pt x="12700" y="195580"/>
                  </a:lnTo>
                  <a:lnTo>
                    <a:pt x="12700" y="182880"/>
                  </a:lnTo>
                  <a:lnTo>
                    <a:pt x="24335739" y="182880"/>
                  </a:lnTo>
                  <a:lnTo>
                    <a:pt x="24335739" y="195580"/>
                  </a:lnTo>
                  <a:lnTo>
                    <a:pt x="24323039" y="19558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205740"/>
            <a:ext cx="17145000" cy="685800"/>
            <a:chOff x="0" y="0"/>
            <a:chExt cx="228600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6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28600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00B4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Slide 1: Base Paper 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8640" y="822960"/>
            <a:ext cx="11658600" cy="1371600"/>
            <a:chOff x="0" y="0"/>
            <a:chExt cx="155448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4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15544800" cy="192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DETRs Beat YOLOs on Real-Time Object Detection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2057400"/>
            <a:ext cx="8229600" cy="548640"/>
            <a:chOff x="0" y="0"/>
            <a:chExt cx="109728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F4D03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arXiv:2304.08069 | CVPR 2024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9115" y="2733675"/>
            <a:ext cx="101346" cy="6602730"/>
            <a:chOff x="0" y="0"/>
            <a:chExt cx="135128" cy="8803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09728" cy="8778240"/>
            </a:xfrm>
            <a:custGeom>
              <a:avLst/>
              <a:gdLst/>
              <a:ahLst/>
              <a:cxnLst/>
              <a:rect r="r" b="b" t="t" l="l"/>
              <a:pathLst>
                <a:path h="87782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8778240"/>
                  </a:lnTo>
                  <a:lnTo>
                    <a:pt x="0" y="877824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5128" cy="8803640"/>
            </a:xfrm>
            <a:custGeom>
              <a:avLst/>
              <a:gdLst/>
              <a:ahLst/>
              <a:cxnLst/>
              <a:rect r="r" b="b" t="t" l="l"/>
              <a:pathLst>
                <a:path h="8803640" w="135128">
                  <a:moveTo>
                    <a:pt x="12700" y="0"/>
                  </a:moveTo>
                  <a:lnTo>
                    <a:pt x="122428" y="0"/>
                  </a:lnTo>
                  <a:cubicBezTo>
                    <a:pt x="129413" y="0"/>
                    <a:pt x="135128" y="5715"/>
                    <a:pt x="135128" y="12700"/>
                  </a:cubicBezTo>
                  <a:lnTo>
                    <a:pt x="135128" y="8790940"/>
                  </a:lnTo>
                  <a:cubicBezTo>
                    <a:pt x="135128" y="8797925"/>
                    <a:pt x="129413" y="8803640"/>
                    <a:pt x="122428" y="8803640"/>
                  </a:cubicBezTo>
                  <a:lnTo>
                    <a:pt x="12700" y="8803640"/>
                  </a:lnTo>
                  <a:cubicBezTo>
                    <a:pt x="5715" y="8803640"/>
                    <a:pt x="0" y="8797925"/>
                    <a:pt x="0" y="87909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790940"/>
                  </a:lnTo>
                  <a:lnTo>
                    <a:pt x="12700" y="8790940"/>
                  </a:lnTo>
                  <a:lnTo>
                    <a:pt x="12700" y="8778240"/>
                  </a:lnTo>
                  <a:lnTo>
                    <a:pt x="122428" y="8778240"/>
                  </a:lnTo>
                  <a:lnTo>
                    <a:pt x="122428" y="8790940"/>
                  </a:lnTo>
                  <a:lnTo>
                    <a:pt x="109728" y="8790940"/>
                  </a:lnTo>
                  <a:lnTo>
                    <a:pt x="109728" y="12700"/>
                  </a:lnTo>
                  <a:lnTo>
                    <a:pt x="122428" y="12700"/>
                  </a:lnTo>
                  <a:lnTo>
                    <a:pt x="12242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2743200"/>
            <a:ext cx="7543800" cy="548640"/>
            <a:chOff x="0" y="0"/>
            <a:chExt cx="100584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058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E945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22960" y="3244215"/>
            <a:ext cx="7543800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• YOLO detectors use NMS (Non-Maximum Suppression) post-processing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• NMS is a non-differentiable heuristic — NOT end-to-end learned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• Sensitive to thresholds, slow in dense scenes, drops valid detections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• Prior DETR-based models too slow for real-time deployment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2960" y="5760720"/>
            <a:ext cx="7543800" cy="548640"/>
            <a:chOff x="0" y="0"/>
            <a:chExt cx="100584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058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ADE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SOLUTION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22960" y="6261735"/>
            <a:ext cx="75438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• RT-DETR: First real-time NMS-free detector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• Hybrid Encoder: CNN speed + Transformer global context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• Learnable object queries → direct end-to-end predictions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• PP-HGNet backbone for efficient GPU computation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189720" y="2743200"/>
            <a:ext cx="8503920" cy="548640"/>
            <a:chOff x="0" y="0"/>
            <a:chExt cx="1133856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1338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RESULTS (COCO val2017)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89720" y="6995160"/>
            <a:ext cx="8503920" cy="480060"/>
            <a:chOff x="0" y="0"/>
            <a:chExt cx="1133856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338560" cy="640080"/>
            </a:xfrm>
            <a:custGeom>
              <a:avLst/>
              <a:gdLst/>
              <a:ahLst/>
              <a:cxnLst/>
              <a:rect r="r" b="b" t="t" l="l"/>
              <a:pathLst>
                <a:path h="64008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163" r="0" b="-29516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133856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4D0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NMS-FREE ARCHITECTURE FLOW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80195" y="7534275"/>
            <a:ext cx="1527810" cy="1047750"/>
            <a:chOff x="0" y="0"/>
            <a:chExt cx="2037080" cy="1397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2700"/>
              <a:ext cx="2011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90CAF9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3708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037080">
                  <a:moveTo>
                    <a:pt x="12700" y="0"/>
                  </a:moveTo>
                  <a:lnTo>
                    <a:pt x="2024380" y="0"/>
                  </a:lnTo>
                  <a:cubicBezTo>
                    <a:pt x="2031365" y="0"/>
                    <a:pt x="2037080" y="5715"/>
                    <a:pt x="2037080" y="12700"/>
                  </a:cubicBezTo>
                  <a:lnTo>
                    <a:pt x="2037080" y="1384300"/>
                  </a:lnTo>
                  <a:cubicBezTo>
                    <a:pt x="2037080" y="1391285"/>
                    <a:pt x="2031365" y="1397000"/>
                    <a:pt x="2024380" y="1397000"/>
                  </a:cubicBezTo>
                  <a:lnTo>
                    <a:pt x="12700" y="1397000"/>
                  </a:lnTo>
                  <a:cubicBezTo>
                    <a:pt x="5715" y="1397000"/>
                    <a:pt x="0" y="1391285"/>
                    <a:pt x="0" y="1384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84300"/>
                  </a:lnTo>
                  <a:lnTo>
                    <a:pt x="12700" y="1384300"/>
                  </a:lnTo>
                  <a:lnTo>
                    <a:pt x="12700" y="1371600"/>
                  </a:lnTo>
                  <a:lnTo>
                    <a:pt x="2024380" y="1371600"/>
                  </a:lnTo>
                  <a:lnTo>
                    <a:pt x="2024380" y="1384300"/>
                  </a:lnTo>
                  <a:lnTo>
                    <a:pt x="2011680" y="1384300"/>
                  </a:lnTo>
                  <a:lnTo>
                    <a:pt x="2011680" y="12700"/>
                  </a:lnTo>
                  <a:lnTo>
                    <a:pt x="2024380" y="12700"/>
                  </a:lnTo>
                  <a:lnTo>
                    <a:pt x="20243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189720" y="7543800"/>
            <a:ext cx="1508760" cy="1028700"/>
            <a:chOff x="0" y="0"/>
            <a:chExt cx="2011680" cy="1371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11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479" t="0" r="-3747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201168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Image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698480" y="7818120"/>
            <a:ext cx="192024" cy="411480"/>
            <a:chOff x="0" y="0"/>
            <a:chExt cx="256032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6032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4936" t="0" r="-224936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56032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880979" y="7534275"/>
            <a:ext cx="1527810" cy="1047750"/>
            <a:chOff x="0" y="0"/>
            <a:chExt cx="2037080" cy="1397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2011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F346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3708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037080">
                  <a:moveTo>
                    <a:pt x="12700" y="0"/>
                  </a:moveTo>
                  <a:lnTo>
                    <a:pt x="2024380" y="0"/>
                  </a:lnTo>
                  <a:cubicBezTo>
                    <a:pt x="2031365" y="0"/>
                    <a:pt x="2037080" y="5715"/>
                    <a:pt x="2037080" y="12700"/>
                  </a:cubicBezTo>
                  <a:lnTo>
                    <a:pt x="2037080" y="1384300"/>
                  </a:lnTo>
                  <a:cubicBezTo>
                    <a:pt x="2037080" y="1391285"/>
                    <a:pt x="2031365" y="1397000"/>
                    <a:pt x="2024380" y="1397000"/>
                  </a:cubicBezTo>
                  <a:lnTo>
                    <a:pt x="12700" y="1397000"/>
                  </a:lnTo>
                  <a:cubicBezTo>
                    <a:pt x="5715" y="1397000"/>
                    <a:pt x="0" y="1391285"/>
                    <a:pt x="0" y="1384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84300"/>
                  </a:lnTo>
                  <a:lnTo>
                    <a:pt x="12700" y="1384300"/>
                  </a:lnTo>
                  <a:lnTo>
                    <a:pt x="12700" y="1371600"/>
                  </a:lnTo>
                  <a:lnTo>
                    <a:pt x="2024380" y="1371600"/>
                  </a:lnTo>
                  <a:lnTo>
                    <a:pt x="2024380" y="1384300"/>
                  </a:lnTo>
                  <a:lnTo>
                    <a:pt x="2011680" y="1384300"/>
                  </a:lnTo>
                  <a:lnTo>
                    <a:pt x="2011680" y="12700"/>
                  </a:lnTo>
                  <a:lnTo>
                    <a:pt x="2024380" y="12700"/>
                  </a:lnTo>
                  <a:lnTo>
                    <a:pt x="20243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890504" y="7543800"/>
            <a:ext cx="1508760" cy="1028700"/>
            <a:chOff x="0" y="0"/>
            <a:chExt cx="2011680" cy="1371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11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479" t="0" r="-37479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201168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PP-HGNet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Backbone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399264" y="7818120"/>
            <a:ext cx="192024" cy="411480"/>
            <a:chOff x="0" y="0"/>
            <a:chExt cx="256032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6032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4936" t="0" r="-224936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56032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581763" y="7534275"/>
            <a:ext cx="1527810" cy="1047750"/>
            <a:chOff x="0" y="0"/>
            <a:chExt cx="2037080" cy="1397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2700" y="12700"/>
              <a:ext cx="2011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F5288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3708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037080">
                  <a:moveTo>
                    <a:pt x="12700" y="0"/>
                  </a:moveTo>
                  <a:lnTo>
                    <a:pt x="2024380" y="0"/>
                  </a:lnTo>
                  <a:cubicBezTo>
                    <a:pt x="2031365" y="0"/>
                    <a:pt x="2037080" y="5715"/>
                    <a:pt x="2037080" y="12700"/>
                  </a:cubicBezTo>
                  <a:lnTo>
                    <a:pt x="2037080" y="1384300"/>
                  </a:lnTo>
                  <a:cubicBezTo>
                    <a:pt x="2037080" y="1391285"/>
                    <a:pt x="2031365" y="1397000"/>
                    <a:pt x="2024380" y="1397000"/>
                  </a:cubicBezTo>
                  <a:lnTo>
                    <a:pt x="12700" y="1397000"/>
                  </a:lnTo>
                  <a:cubicBezTo>
                    <a:pt x="5715" y="1397000"/>
                    <a:pt x="0" y="1391285"/>
                    <a:pt x="0" y="1384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84300"/>
                  </a:lnTo>
                  <a:lnTo>
                    <a:pt x="12700" y="1384300"/>
                  </a:lnTo>
                  <a:lnTo>
                    <a:pt x="12700" y="1371600"/>
                  </a:lnTo>
                  <a:lnTo>
                    <a:pt x="2024380" y="1371600"/>
                  </a:lnTo>
                  <a:lnTo>
                    <a:pt x="2024380" y="1384300"/>
                  </a:lnTo>
                  <a:lnTo>
                    <a:pt x="2011680" y="1384300"/>
                  </a:lnTo>
                  <a:lnTo>
                    <a:pt x="2011680" y="12700"/>
                  </a:lnTo>
                  <a:lnTo>
                    <a:pt x="2024380" y="12700"/>
                  </a:lnTo>
                  <a:lnTo>
                    <a:pt x="20243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591288" y="7543800"/>
            <a:ext cx="1508760" cy="1028700"/>
            <a:chOff x="0" y="0"/>
            <a:chExt cx="2011680" cy="1371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11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479" t="0" r="-37479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201168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Hybrid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Encoder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100048" y="7818120"/>
            <a:ext cx="192024" cy="411480"/>
            <a:chOff x="0" y="0"/>
            <a:chExt cx="256032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56032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4936" t="0" r="-224936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56032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282547" y="7534275"/>
            <a:ext cx="1527810" cy="1047750"/>
            <a:chOff x="0" y="0"/>
            <a:chExt cx="2037080" cy="1397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2700" y="12700"/>
              <a:ext cx="2011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7B2D8B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3708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037080">
                  <a:moveTo>
                    <a:pt x="12700" y="0"/>
                  </a:moveTo>
                  <a:lnTo>
                    <a:pt x="2024380" y="0"/>
                  </a:lnTo>
                  <a:cubicBezTo>
                    <a:pt x="2031365" y="0"/>
                    <a:pt x="2037080" y="5715"/>
                    <a:pt x="2037080" y="12700"/>
                  </a:cubicBezTo>
                  <a:lnTo>
                    <a:pt x="2037080" y="1384300"/>
                  </a:lnTo>
                  <a:cubicBezTo>
                    <a:pt x="2037080" y="1391285"/>
                    <a:pt x="2031365" y="1397000"/>
                    <a:pt x="2024380" y="1397000"/>
                  </a:cubicBezTo>
                  <a:lnTo>
                    <a:pt x="12700" y="1397000"/>
                  </a:lnTo>
                  <a:cubicBezTo>
                    <a:pt x="5715" y="1397000"/>
                    <a:pt x="0" y="1391285"/>
                    <a:pt x="0" y="1384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84300"/>
                  </a:lnTo>
                  <a:lnTo>
                    <a:pt x="12700" y="1384300"/>
                  </a:lnTo>
                  <a:lnTo>
                    <a:pt x="12700" y="1371600"/>
                  </a:lnTo>
                  <a:lnTo>
                    <a:pt x="2024380" y="1371600"/>
                  </a:lnTo>
                  <a:lnTo>
                    <a:pt x="2024380" y="1384300"/>
                  </a:lnTo>
                  <a:lnTo>
                    <a:pt x="2011680" y="1384300"/>
                  </a:lnTo>
                  <a:lnTo>
                    <a:pt x="2011680" y="12700"/>
                  </a:lnTo>
                  <a:lnTo>
                    <a:pt x="2024380" y="12700"/>
                  </a:lnTo>
                  <a:lnTo>
                    <a:pt x="20243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4292072" y="7543800"/>
            <a:ext cx="1508760" cy="1028700"/>
            <a:chOff x="0" y="0"/>
            <a:chExt cx="2011680" cy="1371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11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479" t="0" r="-37479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201168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Queries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5800832" y="7818120"/>
            <a:ext cx="192024" cy="411480"/>
            <a:chOff x="0" y="0"/>
            <a:chExt cx="256032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56032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4936" t="0" r="-224936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256032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5983331" y="7534275"/>
            <a:ext cx="1527810" cy="1047750"/>
            <a:chOff x="0" y="0"/>
            <a:chExt cx="2037080" cy="13970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2700" y="12700"/>
              <a:ext cx="2011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4ADE80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3708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037080">
                  <a:moveTo>
                    <a:pt x="12700" y="0"/>
                  </a:moveTo>
                  <a:lnTo>
                    <a:pt x="2024380" y="0"/>
                  </a:lnTo>
                  <a:cubicBezTo>
                    <a:pt x="2031365" y="0"/>
                    <a:pt x="2037080" y="5715"/>
                    <a:pt x="2037080" y="12700"/>
                  </a:cubicBezTo>
                  <a:lnTo>
                    <a:pt x="2037080" y="1384300"/>
                  </a:lnTo>
                  <a:cubicBezTo>
                    <a:pt x="2037080" y="1391285"/>
                    <a:pt x="2031365" y="1397000"/>
                    <a:pt x="2024380" y="1397000"/>
                  </a:cubicBezTo>
                  <a:lnTo>
                    <a:pt x="12700" y="1397000"/>
                  </a:lnTo>
                  <a:cubicBezTo>
                    <a:pt x="5715" y="1397000"/>
                    <a:pt x="0" y="1391285"/>
                    <a:pt x="0" y="1384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84300"/>
                  </a:lnTo>
                  <a:lnTo>
                    <a:pt x="12700" y="1384300"/>
                  </a:lnTo>
                  <a:lnTo>
                    <a:pt x="12700" y="1371600"/>
                  </a:lnTo>
                  <a:lnTo>
                    <a:pt x="2024380" y="1371600"/>
                  </a:lnTo>
                  <a:lnTo>
                    <a:pt x="2024380" y="1384300"/>
                  </a:lnTo>
                  <a:lnTo>
                    <a:pt x="2011680" y="1384300"/>
                  </a:lnTo>
                  <a:lnTo>
                    <a:pt x="2011680" y="12700"/>
                  </a:lnTo>
                  <a:lnTo>
                    <a:pt x="2024380" y="12700"/>
                  </a:lnTo>
                  <a:lnTo>
                    <a:pt x="20243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5992856" y="7543800"/>
            <a:ext cx="1508760" cy="1028700"/>
            <a:chOff x="0" y="0"/>
            <a:chExt cx="2011680" cy="13716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11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479" t="0" r="-37479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201168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Direct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Predictions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-9525" y="10071735"/>
            <a:ext cx="18261330" cy="224790"/>
            <a:chOff x="0" y="0"/>
            <a:chExt cx="24348440" cy="2997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2700" y="12700"/>
              <a:ext cx="24323039" cy="274320"/>
            </a:xfrm>
            <a:custGeom>
              <a:avLst/>
              <a:gdLst/>
              <a:ahLst/>
              <a:cxnLst/>
              <a:rect r="r" b="b" t="t" l="l"/>
              <a:pathLst>
                <a:path h="27432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0F3460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4348439" cy="299720"/>
            </a:xfrm>
            <a:custGeom>
              <a:avLst/>
              <a:gdLst/>
              <a:ahLst/>
              <a:cxnLst/>
              <a:rect r="r" b="b" t="t" l="l"/>
              <a:pathLst>
                <a:path h="299720" w="24348439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287020"/>
                  </a:lnTo>
                  <a:cubicBezTo>
                    <a:pt x="24348439" y="294005"/>
                    <a:pt x="24342725" y="299720"/>
                    <a:pt x="24335739" y="299720"/>
                  </a:cubicBezTo>
                  <a:lnTo>
                    <a:pt x="12700" y="299720"/>
                  </a:lnTo>
                  <a:cubicBezTo>
                    <a:pt x="5715" y="299720"/>
                    <a:pt x="0" y="294005"/>
                    <a:pt x="0" y="2870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020"/>
                  </a:lnTo>
                  <a:lnTo>
                    <a:pt x="12700" y="287020"/>
                  </a:lnTo>
                  <a:lnTo>
                    <a:pt x="12700" y="274320"/>
                  </a:lnTo>
                  <a:lnTo>
                    <a:pt x="24335739" y="274320"/>
                  </a:lnTo>
                  <a:lnTo>
                    <a:pt x="24335739" y="287020"/>
                  </a:lnTo>
                  <a:lnTo>
                    <a:pt x="24323039" y="2870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F346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548640" y="10081260"/>
            <a:ext cx="17145000" cy="205740"/>
            <a:chOff x="0" y="0"/>
            <a:chExt cx="22860000" cy="2743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860000" cy="274320"/>
            </a:xfrm>
            <a:custGeom>
              <a:avLst/>
              <a:gdLst/>
              <a:ahLst/>
              <a:cxnLst/>
              <a:rect r="r" b="b" t="t" l="l"/>
              <a:pathLst>
                <a:path h="27432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3753" r="0" b="-157375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22860000" cy="293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Base: Zhao et al., DETRs Beat YOLOs on Real-Time Object Detection. CVPR 2024.</a:t>
              </a:r>
            </a:p>
          </p:txBody>
        </p:sp>
      </p:grpSp>
      <p:graphicFrame>
        <p:nvGraphicFramePr>
          <p:cNvPr name="Table 79" id="79"/>
          <p:cNvGraphicFramePr>
            <a:graphicFrameLocks noGrp="true"/>
          </p:cNvGraphicFramePr>
          <p:nvPr/>
        </p:nvGraphicFramePr>
        <p:xfrm>
          <a:off x="9189720" y="3429000"/>
          <a:ext cx="8496300" cy="3048000"/>
        </p:xfrm>
        <a:graphic>
          <a:graphicData uri="http://schemas.openxmlformats.org/drawingml/2006/table">
            <a:tbl>
              <a:tblPr/>
              <a:tblGrid>
                <a:gridCol w="4094150"/>
                <a:gridCol w="2201075"/>
                <a:gridCol w="2201075"/>
              </a:tblGrid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b="true" sz="1650">
                          <a:solidFill>
                            <a:srgbClr val="E2E8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b="true" sz="1650">
                          <a:solidFill>
                            <a:srgbClr val="E2E8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mAP (%)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b="true" sz="1650">
                          <a:solidFill>
                            <a:srgbClr val="E2E8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FPS (T4)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E2E8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YOLOv8-L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E2E8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52.9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E2E8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E2E8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YOLOv8-X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E2E8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53.9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E2E8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00B4D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RT-DETR-L 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4ADE8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53.0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4ADE8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114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00B4D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RT-DETR-X 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4ADE8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54.8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4ADE8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74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261330" cy="156210"/>
            <a:chOff x="0" y="0"/>
            <a:chExt cx="2434844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23039" cy="182880"/>
            </a:xfrm>
            <a:custGeom>
              <a:avLst/>
              <a:gdLst/>
              <a:ahLst/>
              <a:cxnLst/>
              <a:rect r="r" b="b" t="t" l="l"/>
              <a:pathLst>
                <a:path h="18288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ADE8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48439" cy="208280"/>
            </a:xfrm>
            <a:custGeom>
              <a:avLst/>
              <a:gdLst/>
              <a:ahLst/>
              <a:cxnLst/>
              <a:rect r="r" b="b" t="t" l="l"/>
              <a:pathLst>
                <a:path h="208280" w="24348439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95580"/>
                  </a:lnTo>
                  <a:cubicBezTo>
                    <a:pt x="24348439" y="202565"/>
                    <a:pt x="24342725" y="208280"/>
                    <a:pt x="24335739" y="208280"/>
                  </a:cubicBezTo>
                  <a:lnTo>
                    <a:pt x="12700" y="208280"/>
                  </a:lnTo>
                  <a:cubicBezTo>
                    <a:pt x="5715" y="208280"/>
                    <a:pt x="0" y="202565"/>
                    <a:pt x="0" y="1955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95580"/>
                  </a:lnTo>
                  <a:lnTo>
                    <a:pt x="12700" y="195580"/>
                  </a:lnTo>
                  <a:lnTo>
                    <a:pt x="12700" y="182880"/>
                  </a:lnTo>
                  <a:lnTo>
                    <a:pt x="24335739" y="182880"/>
                  </a:lnTo>
                  <a:lnTo>
                    <a:pt x="24335739" y="195580"/>
                  </a:lnTo>
                  <a:lnTo>
                    <a:pt x="24323039" y="19558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205740"/>
            <a:ext cx="17145000" cy="548640"/>
            <a:chOff x="0" y="0"/>
            <a:chExt cx="22860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60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8907" r="0" b="-55890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28600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4ADE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Slide 2: Our Approach &amp; Contributions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8640" y="754380"/>
            <a:ext cx="17145000" cy="891540"/>
            <a:chOff x="0" y="0"/>
            <a:chExt cx="22860000" cy="1188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60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86000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Improved PP-HGNet Backbone: Three Novel Modifications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0535" y="1842135"/>
            <a:ext cx="5505450" cy="7562850"/>
            <a:chOff x="0" y="0"/>
            <a:chExt cx="7340600" cy="10083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73152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058400"/>
                  </a:lnTo>
                  <a:lnTo>
                    <a:pt x="0" y="10058400"/>
                  </a:lnTo>
                  <a:close/>
                </a:path>
              </a:pathLst>
            </a:custGeom>
            <a:solidFill>
              <a:srgbClr val="0F34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0600" cy="10083800"/>
            </a:xfrm>
            <a:custGeom>
              <a:avLst/>
              <a:gdLst/>
              <a:ahLst/>
              <a:cxnLst/>
              <a:rect r="r" b="b" t="t" l="l"/>
              <a:pathLst>
                <a:path h="1008380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10071100"/>
                  </a:lnTo>
                  <a:cubicBezTo>
                    <a:pt x="7340600" y="10078085"/>
                    <a:pt x="7334885" y="10083800"/>
                    <a:pt x="7327900" y="10083800"/>
                  </a:cubicBezTo>
                  <a:lnTo>
                    <a:pt x="12700" y="10083800"/>
                  </a:lnTo>
                  <a:cubicBezTo>
                    <a:pt x="5715" y="10083800"/>
                    <a:pt x="0" y="10078085"/>
                    <a:pt x="0" y="100711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71100"/>
                  </a:lnTo>
                  <a:lnTo>
                    <a:pt x="12700" y="10071100"/>
                  </a:lnTo>
                  <a:lnTo>
                    <a:pt x="12700" y="10058400"/>
                  </a:lnTo>
                  <a:lnTo>
                    <a:pt x="7327900" y="10058400"/>
                  </a:lnTo>
                  <a:lnTo>
                    <a:pt x="7327900" y="10071100"/>
                  </a:lnTo>
                  <a:lnTo>
                    <a:pt x="7315200" y="1007110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70535" y="1842135"/>
            <a:ext cx="5505450" cy="910590"/>
            <a:chOff x="0" y="0"/>
            <a:chExt cx="7340600" cy="1214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73152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0600" cy="1214120"/>
            </a:xfrm>
            <a:custGeom>
              <a:avLst/>
              <a:gdLst/>
              <a:ahLst/>
              <a:cxnLst/>
              <a:rect r="r" b="b" t="t" l="l"/>
              <a:pathLst>
                <a:path h="121412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1201420"/>
                  </a:lnTo>
                  <a:cubicBezTo>
                    <a:pt x="7340600" y="1208405"/>
                    <a:pt x="7334885" y="1214120"/>
                    <a:pt x="7327900" y="1214120"/>
                  </a:cubicBezTo>
                  <a:lnTo>
                    <a:pt x="12700" y="1214120"/>
                  </a:lnTo>
                  <a:cubicBezTo>
                    <a:pt x="5715" y="1214120"/>
                    <a:pt x="0" y="1208405"/>
                    <a:pt x="0" y="1201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01420"/>
                  </a:lnTo>
                  <a:lnTo>
                    <a:pt x="12700" y="1201420"/>
                  </a:lnTo>
                  <a:lnTo>
                    <a:pt x="12700" y="1188720"/>
                  </a:lnTo>
                  <a:lnTo>
                    <a:pt x="7327900" y="1188720"/>
                  </a:lnTo>
                  <a:lnTo>
                    <a:pt x="7327900" y="1201420"/>
                  </a:lnTo>
                  <a:lnTo>
                    <a:pt x="7315200" y="120142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17220" y="1851660"/>
            <a:ext cx="685800" cy="891540"/>
            <a:chOff x="0" y="0"/>
            <a:chExt cx="914400" cy="1188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6794" t="0" r="-11679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914400" cy="1255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①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03020" y="1851660"/>
            <a:ext cx="4526280" cy="891540"/>
            <a:chOff x="0" y="0"/>
            <a:chExt cx="6035040" cy="1188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350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24" r="0" b="-4892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03504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EMA Module After Stem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7220" y="2811780"/>
            <a:ext cx="5212080" cy="480060"/>
            <a:chOff x="0" y="0"/>
            <a:chExt cx="694944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49440" cy="640080"/>
            </a:xfrm>
            <a:custGeom>
              <a:avLst/>
              <a:gdLst/>
              <a:ahLst/>
              <a:cxnLst/>
              <a:rect r="r" b="b" t="t" l="l"/>
              <a:pathLst>
                <a:path h="6400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9494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i="true">
                  <a:solidFill>
                    <a:srgbClr val="00B4D8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Attention Enhancement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85800" y="3360420"/>
            <a:ext cx="5143500" cy="891540"/>
            <a:chOff x="0" y="0"/>
            <a:chExt cx="6858000" cy="1188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58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8580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Inserted after Stem block of PP-HGNet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5800" y="4320540"/>
            <a:ext cx="5143500" cy="891540"/>
            <a:chOff x="0" y="0"/>
            <a:chExt cx="6858000" cy="1188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58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8580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Reconfigures channel dims → batch dims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85800" y="5280660"/>
            <a:ext cx="5143500" cy="891540"/>
            <a:chOff x="0" y="0"/>
            <a:chExt cx="6858000" cy="1188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58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8580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Avoids dimensionality reduction via conv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85800" y="6240780"/>
            <a:ext cx="5143500" cy="891540"/>
            <a:chOff x="0" y="0"/>
            <a:chExt cx="6858000" cy="1188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58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8580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H-axis + W-axis attention branches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5800" y="7200900"/>
            <a:ext cx="5143500" cy="891540"/>
            <a:chOff x="0" y="0"/>
            <a:chExt cx="6858000" cy="11887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58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8580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Preserves full channel resolution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368415" y="1842135"/>
            <a:ext cx="5505450" cy="7562850"/>
            <a:chOff x="0" y="0"/>
            <a:chExt cx="7340600" cy="10083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2700" y="12700"/>
              <a:ext cx="73152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058400"/>
                  </a:lnTo>
                  <a:lnTo>
                    <a:pt x="0" y="10058400"/>
                  </a:lnTo>
                  <a:close/>
                </a:path>
              </a:pathLst>
            </a:custGeom>
            <a:solidFill>
              <a:srgbClr val="0F346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40600" cy="10083800"/>
            </a:xfrm>
            <a:custGeom>
              <a:avLst/>
              <a:gdLst/>
              <a:ahLst/>
              <a:cxnLst/>
              <a:rect r="r" b="b" t="t" l="l"/>
              <a:pathLst>
                <a:path h="1008380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10071100"/>
                  </a:lnTo>
                  <a:cubicBezTo>
                    <a:pt x="7340600" y="10078085"/>
                    <a:pt x="7334885" y="10083800"/>
                    <a:pt x="7327900" y="10083800"/>
                  </a:cubicBezTo>
                  <a:lnTo>
                    <a:pt x="12700" y="10083800"/>
                  </a:lnTo>
                  <a:cubicBezTo>
                    <a:pt x="5715" y="10083800"/>
                    <a:pt x="0" y="10078085"/>
                    <a:pt x="0" y="100711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71100"/>
                  </a:lnTo>
                  <a:lnTo>
                    <a:pt x="12700" y="10071100"/>
                  </a:lnTo>
                  <a:lnTo>
                    <a:pt x="12700" y="10058400"/>
                  </a:lnTo>
                  <a:lnTo>
                    <a:pt x="7327900" y="10058400"/>
                  </a:lnTo>
                  <a:lnTo>
                    <a:pt x="7327900" y="10071100"/>
                  </a:lnTo>
                  <a:lnTo>
                    <a:pt x="7315200" y="1007110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368415" y="1842135"/>
            <a:ext cx="5505450" cy="910590"/>
            <a:chOff x="0" y="0"/>
            <a:chExt cx="7340600" cy="1214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2700" y="12700"/>
              <a:ext cx="73152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4ADE8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40600" cy="1214120"/>
            </a:xfrm>
            <a:custGeom>
              <a:avLst/>
              <a:gdLst/>
              <a:ahLst/>
              <a:cxnLst/>
              <a:rect r="r" b="b" t="t" l="l"/>
              <a:pathLst>
                <a:path h="121412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1201420"/>
                  </a:lnTo>
                  <a:cubicBezTo>
                    <a:pt x="7340600" y="1208405"/>
                    <a:pt x="7334885" y="1214120"/>
                    <a:pt x="7327900" y="1214120"/>
                  </a:cubicBezTo>
                  <a:lnTo>
                    <a:pt x="12700" y="1214120"/>
                  </a:lnTo>
                  <a:cubicBezTo>
                    <a:pt x="5715" y="1214120"/>
                    <a:pt x="0" y="1208405"/>
                    <a:pt x="0" y="1201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01420"/>
                  </a:lnTo>
                  <a:lnTo>
                    <a:pt x="12700" y="1201420"/>
                  </a:lnTo>
                  <a:lnTo>
                    <a:pt x="12700" y="1188720"/>
                  </a:lnTo>
                  <a:lnTo>
                    <a:pt x="7327900" y="1188720"/>
                  </a:lnTo>
                  <a:lnTo>
                    <a:pt x="7327900" y="1201420"/>
                  </a:lnTo>
                  <a:lnTo>
                    <a:pt x="7315200" y="120142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515100" y="1851660"/>
            <a:ext cx="685800" cy="891540"/>
            <a:chOff x="0" y="0"/>
            <a:chExt cx="914400" cy="1188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6794" t="0" r="-116794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914400" cy="1255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②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200900" y="1851660"/>
            <a:ext cx="4526280" cy="891540"/>
            <a:chOff x="0" y="0"/>
            <a:chExt cx="6035040" cy="1188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350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24" r="0" b="-4892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03504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 Block in HG Blocks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515100" y="2811780"/>
            <a:ext cx="5212080" cy="480060"/>
            <a:chOff x="0" y="0"/>
            <a:chExt cx="6949440" cy="640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949440" cy="640080"/>
            </a:xfrm>
            <a:custGeom>
              <a:avLst/>
              <a:gdLst/>
              <a:ahLst/>
              <a:cxnLst/>
              <a:rect r="r" b="b" t="t" l="l"/>
              <a:pathLst>
                <a:path h="6400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9494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i="true">
                  <a:solidFill>
                    <a:srgbClr val="4ADE8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Multi-Branch Training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583680" y="3360420"/>
            <a:ext cx="5143500" cy="891540"/>
            <a:chOff x="0" y="0"/>
            <a:chExt cx="6858000" cy="11887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58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8580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Replaces standard 3×3 conv in HG Block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583680" y="4320540"/>
            <a:ext cx="5143500" cy="891540"/>
            <a:chOff x="0" y="0"/>
            <a:chExt cx="6858000" cy="11887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58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8580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3 parallel branches during training: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583680" y="5280660"/>
            <a:ext cx="5143500" cy="891540"/>
            <a:chOff x="0" y="0"/>
            <a:chExt cx="6858000" cy="11887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858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8580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  3×3 Conv | 1×1 Conv | Identity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583680" y="6240780"/>
            <a:ext cx="5143500" cy="891540"/>
            <a:chOff x="0" y="0"/>
            <a:chExt cx="6858000" cy="11887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858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68580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Fused to single 3×3 at inference (0 FLOPs)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583680" y="7200900"/>
            <a:ext cx="5143500" cy="891540"/>
            <a:chOff x="0" y="0"/>
            <a:chExt cx="6858000" cy="11887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858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8580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Richer feature characterisation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266295" y="1842135"/>
            <a:ext cx="5505450" cy="7562850"/>
            <a:chOff x="0" y="0"/>
            <a:chExt cx="7340600" cy="10083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2700" y="12700"/>
              <a:ext cx="73152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058400"/>
                  </a:lnTo>
                  <a:lnTo>
                    <a:pt x="0" y="10058400"/>
                  </a:lnTo>
                  <a:close/>
                </a:path>
              </a:pathLst>
            </a:custGeom>
            <a:solidFill>
              <a:srgbClr val="0F346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340600" cy="10083800"/>
            </a:xfrm>
            <a:custGeom>
              <a:avLst/>
              <a:gdLst/>
              <a:ahLst/>
              <a:cxnLst/>
              <a:rect r="r" b="b" t="t" l="l"/>
              <a:pathLst>
                <a:path h="1008380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10071100"/>
                  </a:lnTo>
                  <a:cubicBezTo>
                    <a:pt x="7340600" y="10078085"/>
                    <a:pt x="7334885" y="10083800"/>
                    <a:pt x="7327900" y="10083800"/>
                  </a:cubicBezTo>
                  <a:lnTo>
                    <a:pt x="12700" y="10083800"/>
                  </a:lnTo>
                  <a:cubicBezTo>
                    <a:pt x="5715" y="10083800"/>
                    <a:pt x="0" y="10078085"/>
                    <a:pt x="0" y="100711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71100"/>
                  </a:lnTo>
                  <a:lnTo>
                    <a:pt x="12700" y="10071100"/>
                  </a:lnTo>
                  <a:lnTo>
                    <a:pt x="12700" y="10058400"/>
                  </a:lnTo>
                  <a:lnTo>
                    <a:pt x="7327900" y="10058400"/>
                  </a:lnTo>
                  <a:lnTo>
                    <a:pt x="7327900" y="10071100"/>
                  </a:lnTo>
                  <a:lnTo>
                    <a:pt x="7315200" y="1007110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980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266295" y="1842135"/>
            <a:ext cx="5505450" cy="910590"/>
            <a:chOff x="0" y="0"/>
            <a:chExt cx="7340600" cy="12141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2700" y="12700"/>
              <a:ext cx="73152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FF980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340600" cy="1214120"/>
            </a:xfrm>
            <a:custGeom>
              <a:avLst/>
              <a:gdLst/>
              <a:ahLst/>
              <a:cxnLst/>
              <a:rect r="r" b="b" t="t" l="l"/>
              <a:pathLst>
                <a:path h="121412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1201420"/>
                  </a:lnTo>
                  <a:cubicBezTo>
                    <a:pt x="7340600" y="1208405"/>
                    <a:pt x="7334885" y="1214120"/>
                    <a:pt x="7327900" y="1214120"/>
                  </a:cubicBezTo>
                  <a:lnTo>
                    <a:pt x="12700" y="1214120"/>
                  </a:lnTo>
                  <a:cubicBezTo>
                    <a:pt x="5715" y="1214120"/>
                    <a:pt x="0" y="1208405"/>
                    <a:pt x="0" y="1201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01420"/>
                  </a:lnTo>
                  <a:lnTo>
                    <a:pt x="12700" y="1201420"/>
                  </a:lnTo>
                  <a:lnTo>
                    <a:pt x="12700" y="1188720"/>
                  </a:lnTo>
                  <a:lnTo>
                    <a:pt x="7327900" y="1188720"/>
                  </a:lnTo>
                  <a:lnTo>
                    <a:pt x="7327900" y="1201420"/>
                  </a:lnTo>
                  <a:lnTo>
                    <a:pt x="7315200" y="120142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980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412980" y="1851660"/>
            <a:ext cx="685800" cy="891540"/>
            <a:chOff x="0" y="0"/>
            <a:chExt cx="914400" cy="11887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14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6794" t="0" r="-116794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66675"/>
              <a:ext cx="914400" cy="1255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③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098780" y="1851660"/>
            <a:ext cx="4526280" cy="891540"/>
            <a:chOff x="0" y="0"/>
            <a:chExt cx="6035040" cy="11887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0350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24" r="0" b="-4892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603504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Partial Conv in Rep Block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412980" y="2811780"/>
            <a:ext cx="5212080" cy="480060"/>
            <a:chOff x="0" y="0"/>
            <a:chExt cx="6949440" cy="6400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949440" cy="640080"/>
            </a:xfrm>
            <a:custGeom>
              <a:avLst/>
              <a:gdLst/>
              <a:ahLst/>
              <a:cxnLst/>
              <a:rect r="r" b="b" t="t" l="l"/>
              <a:pathLst>
                <a:path h="6400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69494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i="true">
                  <a:solidFill>
                    <a:srgbClr val="FF980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Compute Efficiency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481560" y="3360420"/>
            <a:ext cx="5143500" cy="891540"/>
            <a:chOff x="0" y="0"/>
            <a:chExt cx="6858000" cy="11887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858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8580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Replaces ordinary conv inside Rep Block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481560" y="4320540"/>
            <a:ext cx="5143500" cy="891540"/>
            <a:chOff x="0" y="0"/>
            <a:chExt cx="6858000" cy="11887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858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68580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Applies conv to only 1/4 of channels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481560" y="5280660"/>
            <a:ext cx="5143500" cy="891540"/>
            <a:chOff x="0" y="0"/>
            <a:chExt cx="6858000" cy="11887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858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68580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Rest passed as identity (unchanged)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481560" y="6240780"/>
            <a:ext cx="5143500" cy="891540"/>
            <a:chOff x="0" y="0"/>
            <a:chExt cx="6858000" cy="11887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858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68580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~15–20% FLOPs reduction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481560" y="7200900"/>
            <a:ext cx="5143500" cy="891540"/>
            <a:chOff x="0" y="0"/>
            <a:chExt cx="6858000" cy="11887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858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68580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&lt;0.3% mAP trade-off — highly favourable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470535" y="9523095"/>
            <a:ext cx="17301210" cy="636270"/>
            <a:chOff x="0" y="0"/>
            <a:chExt cx="23068280" cy="84836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2700" y="12700"/>
              <a:ext cx="23042880" cy="822960"/>
            </a:xfrm>
            <a:custGeom>
              <a:avLst/>
              <a:gdLst/>
              <a:ahLst/>
              <a:cxnLst/>
              <a:rect r="r" b="b" t="t" l="l"/>
              <a:pathLst>
                <a:path h="822960" w="23042880">
                  <a:moveTo>
                    <a:pt x="0" y="0"/>
                  </a:moveTo>
                  <a:lnTo>
                    <a:pt x="23042880" y="0"/>
                  </a:lnTo>
                  <a:lnTo>
                    <a:pt x="2304288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0F3460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3068280" cy="848360"/>
            </a:xfrm>
            <a:custGeom>
              <a:avLst/>
              <a:gdLst/>
              <a:ahLst/>
              <a:cxnLst/>
              <a:rect r="r" b="b" t="t" l="l"/>
              <a:pathLst>
                <a:path h="848360" w="23068280">
                  <a:moveTo>
                    <a:pt x="12700" y="0"/>
                  </a:moveTo>
                  <a:lnTo>
                    <a:pt x="23055580" y="0"/>
                  </a:lnTo>
                  <a:cubicBezTo>
                    <a:pt x="23062566" y="0"/>
                    <a:pt x="23068280" y="5715"/>
                    <a:pt x="23068280" y="12700"/>
                  </a:cubicBezTo>
                  <a:lnTo>
                    <a:pt x="23068280" y="835660"/>
                  </a:lnTo>
                  <a:cubicBezTo>
                    <a:pt x="23068280" y="842645"/>
                    <a:pt x="23062566" y="848360"/>
                    <a:pt x="23055580" y="848360"/>
                  </a:cubicBezTo>
                  <a:lnTo>
                    <a:pt x="12700" y="848360"/>
                  </a:lnTo>
                  <a:cubicBezTo>
                    <a:pt x="5715" y="848360"/>
                    <a:pt x="0" y="842645"/>
                    <a:pt x="0" y="8356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35660"/>
                  </a:lnTo>
                  <a:lnTo>
                    <a:pt x="12700" y="835660"/>
                  </a:lnTo>
                  <a:lnTo>
                    <a:pt x="12700" y="822960"/>
                  </a:lnTo>
                  <a:lnTo>
                    <a:pt x="23055580" y="822960"/>
                  </a:lnTo>
                  <a:lnTo>
                    <a:pt x="23055580" y="835660"/>
                  </a:lnTo>
                  <a:lnTo>
                    <a:pt x="23042880" y="835660"/>
                  </a:lnTo>
                  <a:lnTo>
                    <a:pt x="23042880" y="12700"/>
                  </a:lnTo>
                  <a:lnTo>
                    <a:pt x="23055580" y="12700"/>
                  </a:lnTo>
                  <a:lnTo>
                    <a:pt x="230555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4D03F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685800" y="9532620"/>
            <a:ext cx="17007840" cy="617220"/>
            <a:chOff x="0" y="0"/>
            <a:chExt cx="22677120" cy="82296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2677120" cy="822960"/>
            </a:xfrm>
            <a:custGeom>
              <a:avLst/>
              <a:gdLst/>
              <a:ahLst/>
              <a:cxnLst/>
              <a:rect r="r" b="b" t="t" l="l"/>
              <a:pathLst>
                <a:path h="82296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6921" r="0" b="-48692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57150"/>
              <a:ext cx="2267712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9"/>
                </a:lnSpc>
              </a:pPr>
              <a:r>
                <a:rPr lang="en-US" sz="2349" b="true">
                  <a:solidFill>
                    <a:srgbClr val="F4D0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✦  Combined: All 3 modifications applied to RT-DETR's PP-HGNet backbone — no change to neck, decoder, or training objective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261330" cy="156210"/>
            <a:chOff x="0" y="0"/>
            <a:chExt cx="2434844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23039" cy="182880"/>
            </a:xfrm>
            <a:custGeom>
              <a:avLst/>
              <a:gdLst/>
              <a:ahLst/>
              <a:cxnLst/>
              <a:rect r="r" b="b" t="t" l="l"/>
              <a:pathLst>
                <a:path h="18288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FF98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48439" cy="208280"/>
            </a:xfrm>
            <a:custGeom>
              <a:avLst/>
              <a:gdLst/>
              <a:ahLst/>
              <a:cxnLst/>
              <a:rect r="r" b="b" t="t" l="l"/>
              <a:pathLst>
                <a:path h="208280" w="24348439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95580"/>
                  </a:lnTo>
                  <a:cubicBezTo>
                    <a:pt x="24348439" y="202565"/>
                    <a:pt x="24342725" y="208280"/>
                    <a:pt x="24335739" y="208280"/>
                  </a:cubicBezTo>
                  <a:lnTo>
                    <a:pt x="12700" y="208280"/>
                  </a:lnTo>
                  <a:cubicBezTo>
                    <a:pt x="5715" y="208280"/>
                    <a:pt x="0" y="202565"/>
                    <a:pt x="0" y="1955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95580"/>
                  </a:lnTo>
                  <a:lnTo>
                    <a:pt x="12700" y="195580"/>
                  </a:lnTo>
                  <a:lnTo>
                    <a:pt x="12700" y="182880"/>
                  </a:lnTo>
                  <a:lnTo>
                    <a:pt x="24335739" y="182880"/>
                  </a:lnTo>
                  <a:lnTo>
                    <a:pt x="24335739" y="195580"/>
                  </a:lnTo>
                  <a:lnTo>
                    <a:pt x="24323039" y="19558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98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205740"/>
            <a:ext cx="17145000" cy="548640"/>
            <a:chOff x="0" y="0"/>
            <a:chExt cx="22860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60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8907" r="0" b="-55890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28600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FF98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Slide 3: Experiment Results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8640" y="754380"/>
            <a:ext cx="17145000" cy="891540"/>
            <a:chOff x="0" y="0"/>
            <a:chExt cx="22860000" cy="1188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60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86000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 Metrics &amp; Ablation Study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1851660"/>
            <a:ext cx="8229600" cy="548640"/>
            <a:chOff x="0" y="0"/>
            <a:chExt cx="109728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98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Ablation Study (224×224, CPU)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548640" y="2468880"/>
          <a:ext cx="8458200" cy="3429000"/>
        </p:xfrm>
        <a:graphic>
          <a:graphicData uri="http://schemas.openxmlformats.org/drawingml/2006/table">
            <a:tbl>
              <a:tblPr/>
              <a:tblGrid>
                <a:gridCol w="3119706"/>
                <a:gridCol w="1779498"/>
                <a:gridCol w="1779498"/>
                <a:gridCol w="1779498"/>
              </a:tblGrid>
              <a:tr h="685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E2E8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Variant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E2E8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Params (M)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E2E8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Latency (ms)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E2E8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Est. mAP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E2E8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Baseline PP-HGNet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E2E8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~18.5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E2E8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~28.3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E2E8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53.0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B4D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 EMA Only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E2E8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~19.2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E2E8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~31.7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ADE8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~53.6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ADE8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 EMA + Rep (no PConv)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E2E8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~19.0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E2E8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~30.2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ADE8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~54.0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98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Full (EMA+Rep+PConv) 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E2E8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~17.8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4ADE8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~25.9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4ADE8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~54.2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548640" y="6446520"/>
            <a:ext cx="8503920" cy="548640"/>
            <a:chOff x="0" y="0"/>
            <a:chExt cx="1133856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1338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98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Findings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39115" y="7054215"/>
            <a:ext cx="293370" cy="293370"/>
            <a:chOff x="0" y="0"/>
            <a:chExt cx="391160" cy="391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270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1160" cy="391160"/>
            </a:xfrm>
            <a:custGeom>
              <a:avLst/>
              <a:gdLst/>
              <a:ahLst/>
              <a:cxnLst/>
              <a:rect r="r" b="b" t="t" l="l"/>
              <a:pathLst>
                <a:path h="391160" w="391160">
                  <a:moveTo>
                    <a:pt x="0" y="195580"/>
                  </a:moveTo>
                  <a:cubicBezTo>
                    <a:pt x="0" y="87503"/>
                    <a:pt x="87503" y="0"/>
                    <a:pt x="195580" y="0"/>
                  </a:cubicBezTo>
                  <a:lnTo>
                    <a:pt x="195580" y="12700"/>
                  </a:lnTo>
                  <a:lnTo>
                    <a:pt x="195580" y="0"/>
                  </a:lnTo>
                  <a:cubicBezTo>
                    <a:pt x="303657" y="0"/>
                    <a:pt x="391160" y="87503"/>
                    <a:pt x="391160" y="195580"/>
                  </a:cubicBezTo>
                  <a:cubicBezTo>
                    <a:pt x="391160" y="303657"/>
                    <a:pt x="303657" y="391160"/>
                    <a:pt x="195580" y="391160"/>
                  </a:cubicBezTo>
                  <a:lnTo>
                    <a:pt x="195580" y="378460"/>
                  </a:lnTo>
                  <a:lnTo>
                    <a:pt x="195580" y="391160"/>
                  </a:lnTo>
                  <a:cubicBezTo>
                    <a:pt x="87503" y="391160"/>
                    <a:pt x="0" y="303657"/>
                    <a:pt x="0" y="195580"/>
                  </a:cubicBezTo>
                  <a:lnTo>
                    <a:pt x="12700" y="195580"/>
                  </a:lnTo>
                  <a:lnTo>
                    <a:pt x="23622" y="202057"/>
                  </a:lnTo>
                  <a:cubicBezTo>
                    <a:pt x="20701" y="207010"/>
                    <a:pt x="14859" y="209296"/>
                    <a:pt x="9398" y="207772"/>
                  </a:cubicBezTo>
                  <a:cubicBezTo>
                    <a:pt x="3937" y="206248"/>
                    <a:pt x="0" y="201295"/>
                    <a:pt x="0" y="195580"/>
                  </a:cubicBezTo>
                  <a:moveTo>
                    <a:pt x="25400" y="195580"/>
                  </a:moveTo>
                  <a:lnTo>
                    <a:pt x="12700" y="195580"/>
                  </a:lnTo>
                  <a:lnTo>
                    <a:pt x="1778" y="189103"/>
                  </a:lnTo>
                  <a:cubicBezTo>
                    <a:pt x="4699" y="184150"/>
                    <a:pt x="10541" y="181864"/>
                    <a:pt x="16002" y="183388"/>
                  </a:cubicBezTo>
                  <a:cubicBezTo>
                    <a:pt x="21463" y="184912"/>
                    <a:pt x="25400" y="189865"/>
                    <a:pt x="25400" y="195580"/>
                  </a:cubicBezTo>
                  <a:cubicBezTo>
                    <a:pt x="25400" y="289560"/>
                    <a:pt x="101600" y="365760"/>
                    <a:pt x="195580" y="365760"/>
                  </a:cubicBezTo>
                  <a:cubicBezTo>
                    <a:pt x="289560" y="365760"/>
                    <a:pt x="365760" y="289560"/>
                    <a:pt x="365760" y="195580"/>
                  </a:cubicBezTo>
                  <a:lnTo>
                    <a:pt x="378460" y="195580"/>
                  </a:lnTo>
                  <a:lnTo>
                    <a:pt x="365760" y="195580"/>
                  </a:lnTo>
                  <a:cubicBezTo>
                    <a:pt x="365760" y="101600"/>
                    <a:pt x="289560" y="25400"/>
                    <a:pt x="195580" y="25400"/>
                  </a:cubicBezTo>
                  <a:lnTo>
                    <a:pt x="195580" y="12700"/>
                  </a:lnTo>
                  <a:lnTo>
                    <a:pt x="195580" y="25400"/>
                  </a:lnTo>
                  <a:cubicBezTo>
                    <a:pt x="101600" y="25400"/>
                    <a:pt x="25400" y="101600"/>
                    <a:pt x="25400" y="195580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60120" y="6995160"/>
            <a:ext cx="7955280" cy="521208"/>
            <a:chOff x="0" y="0"/>
            <a:chExt cx="10607040" cy="6949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07040" cy="694944"/>
            </a:xfrm>
            <a:custGeom>
              <a:avLst/>
              <a:gdLst/>
              <a:ahLst/>
              <a:cxnLst/>
              <a:rect r="r" b="b" t="t" l="l"/>
              <a:pathLst>
                <a:path h="69494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403" r="0" b="-24740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607040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9"/>
                </a:lnSpc>
              </a:pPr>
              <a:r>
                <a:rPr lang="en-US" sz="2324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EMA adds +0.6 mAP with minimal latency cost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39115" y="7602855"/>
            <a:ext cx="293370" cy="293370"/>
            <a:chOff x="0" y="0"/>
            <a:chExt cx="391160" cy="391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1160" cy="391160"/>
            </a:xfrm>
            <a:custGeom>
              <a:avLst/>
              <a:gdLst/>
              <a:ahLst/>
              <a:cxnLst/>
              <a:rect r="r" b="b" t="t" l="l"/>
              <a:pathLst>
                <a:path h="391160" w="391160">
                  <a:moveTo>
                    <a:pt x="0" y="195580"/>
                  </a:moveTo>
                  <a:cubicBezTo>
                    <a:pt x="0" y="87503"/>
                    <a:pt x="87503" y="0"/>
                    <a:pt x="195580" y="0"/>
                  </a:cubicBezTo>
                  <a:lnTo>
                    <a:pt x="195580" y="12700"/>
                  </a:lnTo>
                  <a:lnTo>
                    <a:pt x="195580" y="0"/>
                  </a:lnTo>
                  <a:cubicBezTo>
                    <a:pt x="303657" y="0"/>
                    <a:pt x="391160" y="87503"/>
                    <a:pt x="391160" y="195580"/>
                  </a:cubicBezTo>
                  <a:cubicBezTo>
                    <a:pt x="391160" y="303657"/>
                    <a:pt x="303657" y="391160"/>
                    <a:pt x="195580" y="391160"/>
                  </a:cubicBezTo>
                  <a:lnTo>
                    <a:pt x="195580" y="378460"/>
                  </a:lnTo>
                  <a:lnTo>
                    <a:pt x="195580" y="391160"/>
                  </a:lnTo>
                  <a:cubicBezTo>
                    <a:pt x="87503" y="391160"/>
                    <a:pt x="0" y="303657"/>
                    <a:pt x="0" y="195580"/>
                  </a:cubicBezTo>
                  <a:lnTo>
                    <a:pt x="12700" y="195580"/>
                  </a:lnTo>
                  <a:lnTo>
                    <a:pt x="23622" y="202057"/>
                  </a:lnTo>
                  <a:cubicBezTo>
                    <a:pt x="20701" y="207010"/>
                    <a:pt x="14859" y="209296"/>
                    <a:pt x="9398" y="207772"/>
                  </a:cubicBezTo>
                  <a:cubicBezTo>
                    <a:pt x="3937" y="206248"/>
                    <a:pt x="0" y="201295"/>
                    <a:pt x="0" y="195580"/>
                  </a:cubicBezTo>
                  <a:moveTo>
                    <a:pt x="25400" y="195580"/>
                  </a:moveTo>
                  <a:lnTo>
                    <a:pt x="12700" y="195580"/>
                  </a:lnTo>
                  <a:lnTo>
                    <a:pt x="1778" y="189103"/>
                  </a:lnTo>
                  <a:cubicBezTo>
                    <a:pt x="4699" y="184150"/>
                    <a:pt x="10541" y="181864"/>
                    <a:pt x="16002" y="183388"/>
                  </a:cubicBezTo>
                  <a:cubicBezTo>
                    <a:pt x="21463" y="184912"/>
                    <a:pt x="25400" y="189865"/>
                    <a:pt x="25400" y="195580"/>
                  </a:cubicBezTo>
                  <a:cubicBezTo>
                    <a:pt x="25400" y="289560"/>
                    <a:pt x="101600" y="365760"/>
                    <a:pt x="195580" y="365760"/>
                  </a:cubicBezTo>
                  <a:cubicBezTo>
                    <a:pt x="289560" y="365760"/>
                    <a:pt x="365760" y="289560"/>
                    <a:pt x="365760" y="195580"/>
                  </a:cubicBezTo>
                  <a:lnTo>
                    <a:pt x="378460" y="195580"/>
                  </a:lnTo>
                  <a:lnTo>
                    <a:pt x="365760" y="195580"/>
                  </a:lnTo>
                  <a:cubicBezTo>
                    <a:pt x="365760" y="101600"/>
                    <a:pt x="289560" y="25400"/>
                    <a:pt x="195580" y="25400"/>
                  </a:cubicBezTo>
                  <a:lnTo>
                    <a:pt x="195580" y="12700"/>
                  </a:lnTo>
                  <a:lnTo>
                    <a:pt x="195580" y="25400"/>
                  </a:lnTo>
                  <a:cubicBezTo>
                    <a:pt x="101600" y="25400"/>
                    <a:pt x="25400" y="101600"/>
                    <a:pt x="25400" y="195580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0120" y="7543800"/>
            <a:ext cx="7955280" cy="521208"/>
            <a:chOff x="0" y="0"/>
            <a:chExt cx="10607040" cy="6949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07040" cy="694944"/>
            </a:xfrm>
            <a:custGeom>
              <a:avLst/>
              <a:gdLst/>
              <a:ahLst/>
              <a:cxnLst/>
              <a:rect r="r" b="b" t="t" l="l"/>
              <a:pathLst>
                <a:path h="69494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403" r="0" b="-24740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0607040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9"/>
                </a:lnSpc>
              </a:pPr>
              <a:r>
                <a:rPr lang="en-US" sz="2324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 Block: 0 inference FLOPs added (fused)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39115" y="8151495"/>
            <a:ext cx="293370" cy="293370"/>
            <a:chOff x="0" y="0"/>
            <a:chExt cx="391160" cy="391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2700" y="1270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91160" cy="391160"/>
            </a:xfrm>
            <a:custGeom>
              <a:avLst/>
              <a:gdLst/>
              <a:ahLst/>
              <a:cxnLst/>
              <a:rect r="r" b="b" t="t" l="l"/>
              <a:pathLst>
                <a:path h="391160" w="391160">
                  <a:moveTo>
                    <a:pt x="0" y="195580"/>
                  </a:moveTo>
                  <a:cubicBezTo>
                    <a:pt x="0" y="87503"/>
                    <a:pt x="87503" y="0"/>
                    <a:pt x="195580" y="0"/>
                  </a:cubicBezTo>
                  <a:lnTo>
                    <a:pt x="195580" y="12700"/>
                  </a:lnTo>
                  <a:lnTo>
                    <a:pt x="195580" y="0"/>
                  </a:lnTo>
                  <a:cubicBezTo>
                    <a:pt x="303657" y="0"/>
                    <a:pt x="391160" y="87503"/>
                    <a:pt x="391160" y="195580"/>
                  </a:cubicBezTo>
                  <a:cubicBezTo>
                    <a:pt x="391160" y="303657"/>
                    <a:pt x="303657" y="391160"/>
                    <a:pt x="195580" y="391160"/>
                  </a:cubicBezTo>
                  <a:lnTo>
                    <a:pt x="195580" y="378460"/>
                  </a:lnTo>
                  <a:lnTo>
                    <a:pt x="195580" y="391160"/>
                  </a:lnTo>
                  <a:cubicBezTo>
                    <a:pt x="87503" y="391160"/>
                    <a:pt x="0" y="303657"/>
                    <a:pt x="0" y="195580"/>
                  </a:cubicBezTo>
                  <a:lnTo>
                    <a:pt x="12700" y="195580"/>
                  </a:lnTo>
                  <a:lnTo>
                    <a:pt x="23622" y="202057"/>
                  </a:lnTo>
                  <a:cubicBezTo>
                    <a:pt x="20701" y="207010"/>
                    <a:pt x="14859" y="209296"/>
                    <a:pt x="9398" y="207772"/>
                  </a:cubicBezTo>
                  <a:cubicBezTo>
                    <a:pt x="3937" y="206248"/>
                    <a:pt x="0" y="201295"/>
                    <a:pt x="0" y="195580"/>
                  </a:cubicBezTo>
                  <a:moveTo>
                    <a:pt x="25400" y="195580"/>
                  </a:moveTo>
                  <a:lnTo>
                    <a:pt x="12700" y="195580"/>
                  </a:lnTo>
                  <a:lnTo>
                    <a:pt x="1778" y="189103"/>
                  </a:lnTo>
                  <a:cubicBezTo>
                    <a:pt x="4699" y="184150"/>
                    <a:pt x="10541" y="181864"/>
                    <a:pt x="16002" y="183388"/>
                  </a:cubicBezTo>
                  <a:cubicBezTo>
                    <a:pt x="21463" y="184912"/>
                    <a:pt x="25400" y="189865"/>
                    <a:pt x="25400" y="195580"/>
                  </a:cubicBezTo>
                  <a:cubicBezTo>
                    <a:pt x="25400" y="289560"/>
                    <a:pt x="101600" y="365760"/>
                    <a:pt x="195580" y="365760"/>
                  </a:cubicBezTo>
                  <a:cubicBezTo>
                    <a:pt x="289560" y="365760"/>
                    <a:pt x="365760" y="289560"/>
                    <a:pt x="365760" y="195580"/>
                  </a:cubicBezTo>
                  <a:lnTo>
                    <a:pt x="378460" y="195580"/>
                  </a:lnTo>
                  <a:lnTo>
                    <a:pt x="365760" y="195580"/>
                  </a:lnTo>
                  <a:cubicBezTo>
                    <a:pt x="365760" y="101600"/>
                    <a:pt x="289560" y="25400"/>
                    <a:pt x="195580" y="25400"/>
                  </a:cubicBezTo>
                  <a:lnTo>
                    <a:pt x="195580" y="12700"/>
                  </a:lnTo>
                  <a:lnTo>
                    <a:pt x="195580" y="25400"/>
                  </a:lnTo>
                  <a:cubicBezTo>
                    <a:pt x="101600" y="25400"/>
                    <a:pt x="25400" y="101600"/>
                    <a:pt x="25400" y="195580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8092440"/>
            <a:ext cx="7955280" cy="521208"/>
            <a:chOff x="0" y="0"/>
            <a:chExt cx="10607040" cy="6949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607040" cy="694944"/>
            </a:xfrm>
            <a:custGeom>
              <a:avLst/>
              <a:gdLst/>
              <a:ahLst/>
              <a:cxnLst/>
              <a:rect r="r" b="b" t="t" l="l"/>
              <a:pathLst>
                <a:path h="69494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403" r="0" b="-24740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607040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9"/>
                </a:lnSpc>
              </a:pPr>
              <a:r>
                <a:rPr lang="en-US" sz="2324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Partial Conv: −15–20% FLOPs, &lt;0.3 mAP drop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9115" y="8700135"/>
            <a:ext cx="293370" cy="293370"/>
            <a:chOff x="0" y="0"/>
            <a:chExt cx="391160" cy="3911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2700" y="1270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1160" cy="391160"/>
            </a:xfrm>
            <a:custGeom>
              <a:avLst/>
              <a:gdLst/>
              <a:ahLst/>
              <a:cxnLst/>
              <a:rect r="r" b="b" t="t" l="l"/>
              <a:pathLst>
                <a:path h="391160" w="391160">
                  <a:moveTo>
                    <a:pt x="0" y="195580"/>
                  </a:moveTo>
                  <a:cubicBezTo>
                    <a:pt x="0" y="87503"/>
                    <a:pt x="87503" y="0"/>
                    <a:pt x="195580" y="0"/>
                  </a:cubicBezTo>
                  <a:lnTo>
                    <a:pt x="195580" y="12700"/>
                  </a:lnTo>
                  <a:lnTo>
                    <a:pt x="195580" y="0"/>
                  </a:lnTo>
                  <a:cubicBezTo>
                    <a:pt x="303657" y="0"/>
                    <a:pt x="391160" y="87503"/>
                    <a:pt x="391160" y="195580"/>
                  </a:cubicBezTo>
                  <a:cubicBezTo>
                    <a:pt x="391160" y="303657"/>
                    <a:pt x="303657" y="391160"/>
                    <a:pt x="195580" y="391160"/>
                  </a:cubicBezTo>
                  <a:lnTo>
                    <a:pt x="195580" y="378460"/>
                  </a:lnTo>
                  <a:lnTo>
                    <a:pt x="195580" y="391160"/>
                  </a:lnTo>
                  <a:cubicBezTo>
                    <a:pt x="87503" y="391160"/>
                    <a:pt x="0" y="303657"/>
                    <a:pt x="0" y="195580"/>
                  </a:cubicBezTo>
                  <a:lnTo>
                    <a:pt x="12700" y="195580"/>
                  </a:lnTo>
                  <a:lnTo>
                    <a:pt x="23622" y="202057"/>
                  </a:lnTo>
                  <a:cubicBezTo>
                    <a:pt x="20701" y="207010"/>
                    <a:pt x="14859" y="209296"/>
                    <a:pt x="9398" y="207772"/>
                  </a:cubicBezTo>
                  <a:cubicBezTo>
                    <a:pt x="3937" y="206248"/>
                    <a:pt x="0" y="201295"/>
                    <a:pt x="0" y="195580"/>
                  </a:cubicBezTo>
                  <a:moveTo>
                    <a:pt x="25400" y="195580"/>
                  </a:moveTo>
                  <a:lnTo>
                    <a:pt x="12700" y="195580"/>
                  </a:lnTo>
                  <a:lnTo>
                    <a:pt x="1778" y="189103"/>
                  </a:lnTo>
                  <a:cubicBezTo>
                    <a:pt x="4699" y="184150"/>
                    <a:pt x="10541" y="181864"/>
                    <a:pt x="16002" y="183388"/>
                  </a:cubicBezTo>
                  <a:cubicBezTo>
                    <a:pt x="21463" y="184912"/>
                    <a:pt x="25400" y="189865"/>
                    <a:pt x="25400" y="195580"/>
                  </a:cubicBezTo>
                  <a:cubicBezTo>
                    <a:pt x="25400" y="289560"/>
                    <a:pt x="101600" y="365760"/>
                    <a:pt x="195580" y="365760"/>
                  </a:cubicBezTo>
                  <a:cubicBezTo>
                    <a:pt x="289560" y="365760"/>
                    <a:pt x="365760" y="289560"/>
                    <a:pt x="365760" y="195580"/>
                  </a:cubicBezTo>
                  <a:lnTo>
                    <a:pt x="378460" y="195580"/>
                  </a:lnTo>
                  <a:lnTo>
                    <a:pt x="365760" y="195580"/>
                  </a:lnTo>
                  <a:cubicBezTo>
                    <a:pt x="365760" y="101600"/>
                    <a:pt x="289560" y="25400"/>
                    <a:pt x="195580" y="25400"/>
                  </a:cubicBezTo>
                  <a:lnTo>
                    <a:pt x="195580" y="12700"/>
                  </a:lnTo>
                  <a:lnTo>
                    <a:pt x="195580" y="25400"/>
                  </a:lnTo>
                  <a:cubicBezTo>
                    <a:pt x="101600" y="25400"/>
                    <a:pt x="25400" y="101600"/>
                    <a:pt x="25400" y="195580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60120" y="8641080"/>
            <a:ext cx="7955280" cy="521208"/>
            <a:chOff x="0" y="0"/>
            <a:chExt cx="10607040" cy="6949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607040" cy="694944"/>
            </a:xfrm>
            <a:custGeom>
              <a:avLst/>
              <a:gdLst/>
              <a:ahLst/>
              <a:cxnLst/>
              <a:rect r="r" b="b" t="t" l="l"/>
              <a:pathLst>
                <a:path h="69494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403" r="0" b="-24740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0607040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9"/>
                </a:lnSpc>
              </a:pPr>
              <a:r>
                <a:rPr lang="en-US" sz="2324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Combined: +1.2–2.2 mAP, lower overall FLOPs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39115" y="9248775"/>
            <a:ext cx="293370" cy="293370"/>
            <a:chOff x="0" y="0"/>
            <a:chExt cx="391160" cy="391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2700" y="1270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91160" cy="391160"/>
            </a:xfrm>
            <a:custGeom>
              <a:avLst/>
              <a:gdLst/>
              <a:ahLst/>
              <a:cxnLst/>
              <a:rect r="r" b="b" t="t" l="l"/>
              <a:pathLst>
                <a:path h="391160" w="391160">
                  <a:moveTo>
                    <a:pt x="0" y="195580"/>
                  </a:moveTo>
                  <a:cubicBezTo>
                    <a:pt x="0" y="87503"/>
                    <a:pt x="87503" y="0"/>
                    <a:pt x="195580" y="0"/>
                  </a:cubicBezTo>
                  <a:lnTo>
                    <a:pt x="195580" y="12700"/>
                  </a:lnTo>
                  <a:lnTo>
                    <a:pt x="195580" y="0"/>
                  </a:lnTo>
                  <a:cubicBezTo>
                    <a:pt x="303657" y="0"/>
                    <a:pt x="391160" y="87503"/>
                    <a:pt x="391160" y="195580"/>
                  </a:cubicBezTo>
                  <a:cubicBezTo>
                    <a:pt x="391160" y="303657"/>
                    <a:pt x="303657" y="391160"/>
                    <a:pt x="195580" y="391160"/>
                  </a:cubicBezTo>
                  <a:lnTo>
                    <a:pt x="195580" y="378460"/>
                  </a:lnTo>
                  <a:lnTo>
                    <a:pt x="195580" y="391160"/>
                  </a:lnTo>
                  <a:cubicBezTo>
                    <a:pt x="87503" y="391160"/>
                    <a:pt x="0" y="303657"/>
                    <a:pt x="0" y="195580"/>
                  </a:cubicBezTo>
                  <a:lnTo>
                    <a:pt x="12700" y="195580"/>
                  </a:lnTo>
                  <a:lnTo>
                    <a:pt x="23622" y="202057"/>
                  </a:lnTo>
                  <a:cubicBezTo>
                    <a:pt x="20701" y="207010"/>
                    <a:pt x="14859" y="209296"/>
                    <a:pt x="9398" y="207772"/>
                  </a:cubicBezTo>
                  <a:cubicBezTo>
                    <a:pt x="3937" y="206248"/>
                    <a:pt x="0" y="201295"/>
                    <a:pt x="0" y="195580"/>
                  </a:cubicBezTo>
                  <a:moveTo>
                    <a:pt x="25400" y="195580"/>
                  </a:moveTo>
                  <a:lnTo>
                    <a:pt x="12700" y="195580"/>
                  </a:lnTo>
                  <a:lnTo>
                    <a:pt x="1778" y="189103"/>
                  </a:lnTo>
                  <a:cubicBezTo>
                    <a:pt x="4699" y="184150"/>
                    <a:pt x="10541" y="181864"/>
                    <a:pt x="16002" y="183388"/>
                  </a:cubicBezTo>
                  <a:cubicBezTo>
                    <a:pt x="21463" y="184912"/>
                    <a:pt x="25400" y="189865"/>
                    <a:pt x="25400" y="195580"/>
                  </a:cubicBezTo>
                  <a:cubicBezTo>
                    <a:pt x="25400" y="289560"/>
                    <a:pt x="101600" y="365760"/>
                    <a:pt x="195580" y="365760"/>
                  </a:cubicBezTo>
                  <a:cubicBezTo>
                    <a:pt x="289560" y="365760"/>
                    <a:pt x="365760" y="289560"/>
                    <a:pt x="365760" y="195580"/>
                  </a:cubicBezTo>
                  <a:lnTo>
                    <a:pt x="378460" y="195580"/>
                  </a:lnTo>
                  <a:lnTo>
                    <a:pt x="365760" y="195580"/>
                  </a:lnTo>
                  <a:cubicBezTo>
                    <a:pt x="365760" y="101600"/>
                    <a:pt x="289560" y="25400"/>
                    <a:pt x="195580" y="25400"/>
                  </a:cubicBezTo>
                  <a:lnTo>
                    <a:pt x="195580" y="12700"/>
                  </a:lnTo>
                  <a:lnTo>
                    <a:pt x="195580" y="25400"/>
                  </a:lnTo>
                  <a:cubicBezTo>
                    <a:pt x="101600" y="25400"/>
                    <a:pt x="25400" y="101600"/>
                    <a:pt x="25400" y="195580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60120" y="9189720"/>
            <a:ext cx="7955280" cy="521208"/>
            <a:chOff x="0" y="0"/>
            <a:chExt cx="10607040" cy="69494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607040" cy="694944"/>
            </a:xfrm>
            <a:custGeom>
              <a:avLst/>
              <a:gdLst/>
              <a:ahLst/>
              <a:cxnLst/>
              <a:rect r="r" b="b" t="t" l="l"/>
              <a:pathLst>
                <a:path h="69494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403" r="0" b="-24740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0607040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9"/>
                </a:lnSpc>
              </a:pPr>
              <a:r>
                <a:rPr lang="en-US" sz="2324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SAHI: +10–30% small object recall at inference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01200" y="1851660"/>
            <a:ext cx="8229600" cy="548640"/>
            <a:chOff x="0" y="0"/>
            <a:chExt cx="1097280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109728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Projected COCO Performance (RT-DETR-L Variants)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865995" y="5888355"/>
            <a:ext cx="1527810" cy="1116330"/>
            <a:chOff x="0" y="0"/>
            <a:chExt cx="2037080" cy="1488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2700" y="12700"/>
              <a:ext cx="2011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F980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37080" cy="1488440"/>
            </a:xfrm>
            <a:custGeom>
              <a:avLst/>
              <a:gdLst/>
              <a:ahLst/>
              <a:cxnLst/>
              <a:rect r="r" b="b" t="t" l="l"/>
              <a:pathLst>
                <a:path h="1488440" w="2037080">
                  <a:moveTo>
                    <a:pt x="12700" y="0"/>
                  </a:moveTo>
                  <a:lnTo>
                    <a:pt x="2024380" y="0"/>
                  </a:lnTo>
                  <a:cubicBezTo>
                    <a:pt x="2031365" y="0"/>
                    <a:pt x="2037080" y="5715"/>
                    <a:pt x="2037080" y="12700"/>
                  </a:cubicBezTo>
                  <a:lnTo>
                    <a:pt x="2037080" y="1475740"/>
                  </a:lnTo>
                  <a:cubicBezTo>
                    <a:pt x="2037080" y="1482725"/>
                    <a:pt x="2031365" y="1488440"/>
                    <a:pt x="2024380" y="1488440"/>
                  </a:cubicBezTo>
                  <a:lnTo>
                    <a:pt x="12700" y="1488440"/>
                  </a:lnTo>
                  <a:cubicBezTo>
                    <a:pt x="5715" y="1488440"/>
                    <a:pt x="0" y="1482725"/>
                    <a:pt x="0" y="14757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75740"/>
                  </a:lnTo>
                  <a:lnTo>
                    <a:pt x="12700" y="1475740"/>
                  </a:lnTo>
                  <a:lnTo>
                    <a:pt x="12700" y="1463040"/>
                  </a:lnTo>
                  <a:lnTo>
                    <a:pt x="2024380" y="1463040"/>
                  </a:lnTo>
                  <a:lnTo>
                    <a:pt x="2024380" y="1475740"/>
                  </a:lnTo>
                  <a:lnTo>
                    <a:pt x="2011680" y="1475740"/>
                  </a:lnTo>
                  <a:lnTo>
                    <a:pt x="2011680" y="12700"/>
                  </a:lnTo>
                  <a:lnTo>
                    <a:pt x="2024380" y="12700"/>
                  </a:lnTo>
                  <a:lnTo>
                    <a:pt x="20243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875520" y="5417820"/>
            <a:ext cx="1508760" cy="411480"/>
            <a:chOff x="0" y="0"/>
            <a:chExt cx="2011680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0116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98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53%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875520" y="7063740"/>
            <a:ext cx="1508760" cy="548640"/>
            <a:chOff x="0" y="0"/>
            <a:chExt cx="201168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1168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011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Baseline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854815" y="4571619"/>
            <a:ext cx="1527810" cy="2433066"/>
            <a:chOff x="0" y="0"/>
            <a:chExt cx="2037080" cy="324408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2700" y="12700"/>
              <a:ext cx="2011680" cy="3218688"/>
            </a:xfrm>
            <a:custGeom>
              <a:avLst/>
              <a:gdLst/>
              <a:ahLst/>
              <a:cxnLst/>
              <a:rect r="r" b="b" t="t" l="l"/>
              <a:pathLst>
                <a:path h="3218688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218688"/>
                  </a:lnTo>
                  <a:lnTo>
                    <a:pt x="0" y="321868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37080" cy="3244088"/>
            </a:xfrm>
            <a:custGeom>
              <a:avLst/>
              <a:gdLst/>
              <a:ahLst/>
              <a:cxnLst/>
              <a:rect r="r" b="b" t="t" l="l"/>
              <a:pathLst>
                <a:path h="3244088" w="2037080">
                  <a:moveTo>
                    <a:pt x="12700" y="0"/>
                  </a:moveTo>
                  <a:lnTo>
                    <a:pt x="2024380" y="0"/>
                  </a:lnTo>
                  <a:cubicBezTo>
                    <a:pt x="2031365" y="0"/>
                    <a:pt x="2037080" y="5715"/>
                    <a:pt x="2037080" y="12700"/>
                  </a:cubicBezTo>
                  <a:lnTo>
                    <a:pt x="2037080" y="3231388"/>
                  </a:lnTo>
                  <a:cubicBezTo>
                    <a:pt x="2037080" y="3238373"/>
                    <a:pt x="2031365" y="3244088"/>
                    <a:pt x="2024380" y="3244088"/>
                  </a:cubicBezTo>
                  <a:lnTo>
                    <a:pt x="12700" y="3244088"/>
                  </a:lnTo>
                  <a:cubicBezTo>
                    <a:pt x="5715" y="3244088"/>
                    <a:pt x="0" y="3238373"/>
                    <a:pt x="0" y="32313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231388"/>
                  </a:lnTo>
                  <a:lnTo>
                    <a:pt x="12700" y="3231388"/>
                  </a:lnTo>
                  <a:lnTo>
                    <a:pt x="12700" y="3218688"/>
                  </a:lnTo>
                  <a:lnTo>
                    <a:pt x="2024380" y="3218688"/>
                  </a:lnTo>
                  <a:lnTo>
                    <a:pt x="2024380" y="3231388"/>
                  </a:lnTo>
                  <a:lnTo>
                    <a:pt x="2011680" y="3231388"/>
                  </a:lnTo>
                  <a:lnTo>
                    <a:pt x="2011680" y="12700"/>
                  </a:lnTo>
                  <a:lnTo>
                    <a:pt x="2024380" y="12700"/>
                  </a:lnTo>
                  <a:lnTo>
                    <a:pt x="20243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864340" y="4101084"/>
            <a:ext cx="1508760" cy="411480"/>
            <a:chOff x="0" y="0"/>
            <a:chExt cx="201168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20116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53.6%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864340" y="7063740"/>
            <a:ext cx="1508760" cy="548640"/>
            <a:chOff x="0" y="0"/>
            <a:chExt cx="2011680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1168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2011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+EMA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843635" y="3693795"/>
            <a:ext cx="1527810" cy="3310890"/>
            <a:chOff x="0" y="0"/>
            <a:chExt cx="2037080" cy="4414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2700" y="12700"/>
              <a:ext cx="2011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4ADE80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37080" cy="4414520"/>
            </a:xfrm>
            <a:custGeom>
              <a:avLst/>
              <a:gdLst/>
              <a:ahLst/>
              <a:cxnLst/>
              <a:rect r="r" b="b" t="t" l="l"/>
              <a:pathLst>
                <a:path h="4414520" w="2037080">
                  <a:moveTo>
                    <a:pt x="12700" y="0"/>
                  </a:moveTo>
                  <a:lnTo>
                    <a:pt x="2024380" y="0"/>
                  </a:lnTo>
                  <a:cubicBezTo>
                    <a:pt x="2031365" y="0"/>
                    <a:pt x="2037080" y="5715"/>
                    <a:pt x="2037080" y="12700"/>
                  </a:cubicBezTo>
                  <a:lnTo>
                    <a:pt x="2037080" y="4401820"/>
                  </a:lnTo>
                  <a:cubicBezTo>
                    <a:pt x="2037080" y="4408805"/>
                    <a:pt x="2031365" y="4414520"/>
                    <a:pt x="2024380" y="4414520"/>
                  </a:cubicBezTo>
                  <a:lnTo>
                    <a:pt x="12700" y="4414520"/>
                  </a:lnTo>
                  <a:cubicBezTo>
                    <a:pt x="5715" y="4414520"/>
                    <a:pt x="0" y="4408805"/>
                    <a:pt x="0" y="44018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401820"/>
                  </a:lnTo>
                  <a:lnTo>
                    <a:pt x="12700" y="4401820"/>
                  </a:lnTo>
                  <a:lnTo>
                    <a:pt x="12700" y="4389120"/>
                  </a:lnTo>
                  <a:lnTo>
                    <a:pt x="2024380" y="4389120"/>
                  </a:lnTo>
                  <a:lnTo>
                    <a:pt x="2024380" y="4401820"/>
                  </a:lnTo>
                  <a:lnTo>
                    <a:pt x="2011680" y="4401820"/>
                  </a:lnTo>
                  <a:lnTo>
                    <a:pt x="2011680" y="12700"/>
                  </a:lnTo>
                  <a:lnTo>
                    <a:pt x="2024380" y="12700"/>
                  </a:lnTo>
                  <a:lnTo>
                    <a:pt x="20243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853160" y="3223260"/>
            <a:ext cx="1508760" cy="411480"/>
            <a:chOff x="0" y="0"/>
            <a:chExt cx="201168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0116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4ADE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54%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853160" y="7063740"/>
            <a:ext cx="1508760" cy="548640"/>
            <a:chOff x="0" y="0"/>
            <a:chExt cx="201168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01168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2011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+EMA+Rep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5832455" y="3254883"/>
            <a:ext cx="1527810" cy="3749802"/>
            <a:chOff x="0" y="0"/>
            <a:chExt cx="2037080" cy="499973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2700" y="12700"/>
              <a:ext cx="2011680" cy="4974336"/>
            </a:xfrm>
            <a:custGeom>
              <a:avLst/>
              <a:gdLst/>
              <a:ahLst/>
              <a:cxnLst/>
              <a:rect r="r" b="b" t="t" l="l"/>
              <a:pathLst>
                <a:path h="497433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4974336"/>
                  </a:lnTo>
                  <a:lnTo>
                    <a:pt x="0" y="4974336"/>
                  </a:lnTo>
                  <a:close/>
                </a:path>
              </a:pathLst>
            </a:custGeom>
            <a:solidFill>
              <a:srgbClr val="F4D03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037080" cy="4999736"/>
            </a:xfrm>
            <a:custGeom>
              <a:avLst/>
              <a:gdLst/>
              <a:ahLst/>
              <a:cxnLst/>
              <a:rect r="r" b="b" t="t" l="l"/>
              <a:pathLst>
                <a:path h="4999736" w="2037080">
                  <a:moveTo>
                    <a:pt x="12700" y="0"/>
                  </a:moveTo>
                  <a:lnTo>
                    <a:pt x="2024380" y="0"/>
                  </a:lnTo>
                  <a:cubicBezTo>
                    <a:pt x="2031365" y="0"/>
                    <a:pt x="2037080" y="5715"/>
                    <a:pt x="2037080" y="12700"/>
                  </a:cubicBezTo>
                  <a:lnTo>
                    <a:pt x="2037080" y="4987036"/>
                  </a:lnTo>
                  <a:cubicBezTo>
                    <a:pt x="2037080" y="4994021"/>
                    <a:pt x="2031365" y="4999736"/>
                    <a:pt x="2024380" y="4999736"/>
                  </a:cubicBezTo>
                  <a:lnTo>
                    <a:pt x="12700" y="4999736"/>
                  </a:lnTo>
                  <a:cubicBezTo>
                    <a:pt x="5715" y="4999736"/>
                    <a:pt x="0" y="4994021"/>
                    <a:pt x="0" y="498703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987036"/>
                  </a:lnTo>
                  <a:lnTo>
                    <a:pt x="12700" y="4987036"/>
                  </a:lnTo>
                  <a:lnTo>
                    <a:pt x="12700" y="4974336"/>
                  </a:lnTo>
                  <a:lnTo>
                    <a:pt x="2024380" y="4974336"/>
                  </a:lnTo>
                  <a:lnTo>
                    <a:pt x="2024380" y="4987036"/>
                  </a:lnTo>
                  <a:lnTo>
                    <a:pt x="2011680" y="4987036"/>
                  </a:lnTo>
                  <a:lnTo>
                    <a:pt x="2011680" y="12700"/>
                  </a:lnTo>
                  <a:lnTo>
                    <a:pt x="2024380" y="12700"/>
                  </a:lnTo>
                  <a:lnTo>
                    <a:pt x="20243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5841980" y="2784348"/>
            <a:ext cx="1508760" cy="411480"/>
            <a:chOff x="0" y="0"/>
            <a:chExt cx="2011680" cy="5486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20116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4D0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54.2%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5841980" y="7063740"/>
            <a:ext cx="1508760" cy="548640"/>
            <a:chOff x="0" y="0"/>
            <a:chExt cx="2011680" cy="7315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01168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011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(Ours)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591675" y="6985635"/>
            <a:ext cx="8248650" cy="19050"/>
            <a:chOff x="0" y="0"/>
            <a:chExt cx="10998200" cy="254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2700" y="0"/>
              <a:ext cx="10922000" cy="25400"/>
            </a:xfrm>
            <a:custGeom>
              <a:avLst/>
              <a:gdLst/>
              <a:ahLst/>
              <a:cxnLst/>
              <a:rect r="r" b="b" t="t" l="l"/>
              <a:pathLst>
                <a:path h="25400" w="10922000">
                  <a:moveTo>
                    <a:pt x="177800" y="0"/>
                  </a:moveTo>
                  <a:lnTo>
                    <a:pt x="254000" y="0"/>
                  </a:lnTo>
                  <a:lnTo>
                    <a:pt x="254000" y="25400"/>
                  </a:lnTo>
                  <a:lnTo>
                    <a:pt x="177800" y="25400"/>
                  </a:lnTo>
                  <a:close/>
                  <a:moveTo>
                    <a:pt x="355600" y="0"/>
                  </a:moveTo>
                  <a:lnTo>
                    <a:pt x="431800" y="0"/>
                  </a:lnTo>
                  <a:lnTo>
                    <a:pt x="431800" y="25400"/>
                  </a:lnTo>
                  <a:lnTo>
                    <a:pt x="355600" y="25400"/>
                  </a:lnTo>
                  <a:close/>
                  <a:moveTo>
                    <a:pt x="533400" y="0"/>
                  </a:moveTo>
                  <a:lnTo>
                    <a:pt x="609600" y="0"/>
                  </a:lnTo>
                  <a:lnTo>
                    <a:pt x="609600" y="25400"/>
                  </a:lnTo>
                  <a:lnTo>
                    <a:pt x="533400" y="25400"/>
                  </a:lnTo>
                  <a:close/>
                  <a:moveTo>
                    <a:pt x="711200" y="0"/>
                  </a:moveTo>
                  <a:lnTo>
                    <a:pt x="787400" y="0"/>
                  </a:lnTo>
                  <a:lnTo>
                    <a:pt x="787400" y="25400"/>
                  </a:lnTo>
                  <a:lnTo>
                    <a:pt x="711200" y="25400"/>
                  </a:lnTo>
                  <a:close/>
                  <a:moveTo>
                    <a:pt x="889000" y="0"/>
                  </a:moveTo>
                  <a:lnTo>
                    <a:pt x="965200" y="0"/>
                  </a:lnTo>
                  <a:lnTo>
                    <a:pt x="965200" y="25400"/>
                  </a:lnTo>
                  <a:lnTo>
                    <a:pt x="889000" y="25400"/>
                  </a:lnTo>
                  <a:close/>
                  <a:moveTo>
                    <a:pt x="1066800" y="0"/>
                  </a:moveTo>
                  <a:lnTo>
                    <a:pt x="1143000" y="0"/>
                  </a:lnTo>
                  <a:lnTo>
                    <a:pt x="1143000" y="25400"/>
                  </a:lnTo>
                  <a:lnTo>
                    <a:pt x="1066800" y="25400"/>
                  </a:lnTo>
                  <a:close/>
                  <a:moveTo>
                    <a:pt x="1244600" y="0"/>
                  </a:moveTo>
                  <a:lnTo>
                    <a:pt x="1320800" y="0"/>
                  </a:lnTo>
                  <a:lnTo>
                    <a:pt x="1320800" y="25400"/>
                  </a:lnTo>
                  <a:lnTo>
                    <a:pt x="1244600" y="25400"/>
                  </a:lnTo>
                  <a:close/>
                  <a:moveTo>
                    <a:pt x="1422400" y="25400"/>
                  </a:moveTo>
                  <a:lnTo>
                    <a:pt x="1498600" y="25400"/>
                  </a:lnTo>
                  <a:lnTo>
                    <a:pt x="1422400" y="25400"/>
                  </a:lnTo>
                  <a:close/>
                  <a:moveTo>
                    <a:pt x="1600200" y="25400"/>
                  </a:moveTo>
                  <a:lnTo>
                    <a:pt x="1676400" y="25400"/>
                  </a:lnTo>
                  <a:lnTo>
                    <a:pt x="1600200" y="25400"/>
                  </a:lnTo>
                  <a:close/>
                  <a:moveTo>
                    <a:pt x="1778000" y="25400"/>
                  </a:moveTo>
                  <a:lnTo>
                    <a:pt x="1854200" y="25400"/>
                  </a:lnTo>
                  <a:lnTo>
                    <a:pt x="1778000" y="25400"/>
                  </a:lnTo>
                  <a:close/>
                  <a:moveTo>
                    <a:pt x="1955800" y="25400"/>
                  </a:moveTo>
                  <a:lnTo>
                    <a:pt x="2032000" y="25400"/>
                  </a:lnTo>
                  <a:lnTo>
                    <a:pt x="1955800" y="25400"/>
                  </a:lnTo>
                  <a:close/>
                  <a:moveTo>
                    <a:pt x="2133600" y="25400"/>
                  </a:moveTo>
                  <a:lnTo>
                    <a:pt x="2209800" y="25400"/>
                  </a:lnTo>
                  <a:lnTo>
                    <a:pt x="2133600" y="25400"/>
                  </a:lnTo>
                  <a:close/>
                  <a:moveTo>
                    <a:pt x="2311400" y="25400"/>
                  </a:moveTo>
                  <a:lnTo>
                    <a:pt x="2387600" y="25400"/>
                  </a:lnTo>
                  <a:lnTo>
                    <a:pt x="2311400" y="25400"/>
                  </a:lnTo>
                  <a:close/>
                  <a:moveTo>
                    <a:pt x="2489200" y="25400"/>
                  </a:moveTo>
                  <a:lnTo>
                    <a:pt x="2565400" y="25400"/>
                  </a:lnTo>
                  <a:lnTo>
                    <a:pt x="2489200" y="25400"/>
                  </a:lnTo>
                  <a:close/>
                  <a:moveTo>
                    <a:pt x="2667000" y="25400"/>
                  </a:moveTo>
                  <a:lnTo>
                    <a:pt x="2743200" y="25400"/>
                  </a:lnTo>
                  <a:lnTo>
                    <a:pt x="2667000" y="25400"/>
                  </a:lnTo>
                  <a:close/>
                  <a:moveTo>
                    <a:pt x="2844800" y="25400"/>
                  </a:moveTo>
                  <a:lnTo>
                    <a:pt x="2921000" y="25400"/>
                  </a:lnTo>
                  <a:lnTo>
                    <a:pt x="2844800" y="25400"/>
                  </a:lnTo>
                  <a:close/>
                  <a:moveTo>
                    <a:pt x="3022600" y="25400"/>
                  </a:moveTo>
                  <a:lnTo>
                    <a:pt x="3098800" y="25400"/>
                  </a:lnTo>
                  <a:lnTo>
                    <a:pt x="3022600" y="25400"/>
                  </a:lnTo>
                  <a:close/>
                  <a:moveTo>
                    <a:pt x="3200400" y="25400"/>
                  </a:moveTo>
                  <a:lnTo>
                    <a:pt x="3276600" y="25400"/>
                  </a:lnTo>
                  <a:lnTo>
                    <a:pt x="3200400" y="25400"/>
                  </a:lnTo>
                  <a:close/>
                  <a:moveTo>
                    <a:pt x="3378200" y="25400"/>
                  </a:moveTo>
                  <a:lnTo>
                    <a:pt x="3454400" y="25400"/>
                  </a:lnTo>
                  <a:lnTo>
                    <a:pt x="3378200" y="25400"/>
                  </a:lnTo>
                  <a:close/>
                  <a:moveTo>
                    <a:pt x="3556000" y="25400"/>
                  </a:moveTo>
                  <a:lnTo>
                    <a:pt x="3632200" y="25400"/>
                  </a:lnTo>
                  <a:lnTo>
                    <a:pt x="3556000" y="25400"/>
                  </a:lnTo>
                  <a:close/>
                  <a:moveTo>
                    <a:pt x="3733800" y="25400"/>
                  </a:moveTo>
                  <a:lnTo>
                    <a:pt x="3810000" y="25400"/>
                  </a:lnTo>
                  <a:lnTo>
                    <a:pt x="3733800" y="25400"/>
                  </a:lnTo>
                  <a:close/>
                  <a:moveTo>
                    <a:pt x="3911600" y="25400"/>
                  </a:moveTo>
                  <a:lnTo>
                    <a:pt x="3987800" y="25400"/>
                  </a:lnTo>
                  <a:lnTo>
                    <a:pt x="3911600" y="25400"/>
                  </a:lnTo>
                  <a:close/>
                  <a:moveTo>
                    <a:pt x="4089400" y="25400"/>
                  </a:moveTo>
                  <a:lnTo>
                    <a:pt x="4165600" y="25400"/>
                  </a:lnTo>
                  <a:lnTo>
                    <a:pt x="4089400" y="25400"/>
                  </a:lnTo>
                  <a:close/>
                  <a:moveTo>
                    <a:pt x="4267200" y="25400"/>
                  </a:moveTo>
                  <a:lnTo>
                    <a:pt x="4343400" y="25400"/>
                  </a:lnTo>
                  <a:lnTo>
                    <a:pt x="4267200" y="25400"/>
                  </a:lnTo>
                  <a:close/>
                  <a:moveTo>
                    <a:pt x="4445000" y="25400"/>
                  </a:moveTo>
                  <a:lnTo>
                    <a:pt x="4521200" y="25400"/>
                  </a:lnTo>
                  <a:lnTo>
                    <a:pt x="4445000" y="25400"/>
                  </a:lnTo>
                  <a:close/>
                  <a:moveTo>
                    <a:pt x="4622800" y="25400"/>
                  </a:moveTo>
                  <a:lnTo>
                    <a:pt x="4699000" y="25400"/>
                  </a:lnTo>
                  <a:lnTo>
                    <a:pt x="4622800" y="25400"/>
                  </a:lnTo>
                  <a:close/>
                  <a:moveTo>
                    <a:pt x="4800600" y="25400"/>
                  </a:moveTo>
                  <a:lnTo>
                    <a:pt x="4876800" y="25400"/>
                  </a:lnTo>
                  <a:lnTo>
                    <a:pt x="4800600" y="25400"/>
                  </a:lnTo>
                  <a:close/>
                  <a:moveTo>
                    <a:pt x="4978400" y="25400"/>
                  </a:moveTo>
                  <a:lnTo>
                    <a:pt x="5054600" y="25400"/>
                  </a:lnTo>
                  <a:lnTo>
                    <a:pt x="4978400" y="25400"/>
                  </a:lnTo>
                  <a:close/>
                  <a:moveTo>
                    <a:pt x="5156200" y="25400"/>
                  </a:moveTo>
                  <a:lnTo>
                    <a:pt x="5232400" y="25400"/>
                  </a:lnTo>
                  <a:lnTo>
                    <a:pt x="5156200" y="25400"/>
                  </a:lnTo>
                  <a:close/>
                  <a:moveTo>
                    <a:pt x="5334000" y="25400"/>
                  </a:moveTo>
                  <a:lnTo>
                    <a:pt x="5410200" y="25400"/>
                  </a:lnTo>
                  <a:lnTo>
                    <a:pt x="5334000" y="25400"/>
                  </a:lnTo>
                  <a:close/>
                  <a:moveTo>
                    <a:pt x="5511800" y="25400"/>
                  </a:moveTo>
                  <a:lnTo>
                    <a:pt x="5588000" y="25400"/>
                  </a:lnTo>
                  <a:lnTo>
                    <a:pt x="5511800" y="25400"/>
                  </a:lnTo>
                  <a:close/>
                  <a:moveTo>
                    <a:pt x="5689600" y="25400"/>
                  </a:moveTo>
                  <a:lnTo>
                    <a:pt x="5765800" y="25400"/>
                  </a:lnTo>
                  <a:lnTo>
                    <a:pt x="5689600" y="25400"/>
                  </a:lnTo>
                  <a:close/>
                  <a:moveTo>
                    <a:pt x="5867400" y="25400"/>
                  </a:moveTo>
                  <a:lnTo>
                    <a:pt x="5943600" y="25400"/>
                  </a:lnTo>
                  <a:lnTo>
                    <a:pt x="5867400" y="25400"/>
                  </a:lnTo>
                  <a:close/>
                  <a:moveTo>
                    <a:pt x="6045200" y="25400"/>
                  </a:moveTo>
                  <a:lnTo>
                    <a:pt x="6121400" y="25400"/>
                  </a:lnTo>
                  <a:lnTo>
                    <a:pt x="6045200" y="25400"/>
                  </a:lnTo>
                  <a:close/>
                  <a:moveTo>
                    <a:pt x="6223000" y="25400"/>
                  </a:moveTo>
                  <a:lnTo>
                    <a:pt x="6299200" y="25400"/>
                  </a:lnTo>
                  <a:lnTo>
                    <a:pt x="6223000" y="25400"/>
                  </a:lnTo>
                  <a:close/>
                  <a:moveTo>
                    <a:pt x="6400800" y="25400"/>
                  </a:moveTo>
                  <a:lnTo>
                    <a:pt x="6477000" y="25400"/>
                  </a:lnTo>
                  <a:lnTo>
                    <a:pt x="6400800" y="25400"/>
                  </a:lnTo>
                  <a:close/>
                  <a:moveTo>
                    <a:pt x="6578600" y="25400"/>
                  </a:moveTo>
                  <a:lnTo>
                    <a:pt x="6654800" y="25400"/>
                  </a:lnTo>
                  <a:lnTo>
                    <a:pt x="6578600" y="25400"/>
                  </a:lnTo>
                  <a:close/>
                  <a:moveTo>
                    <a:pt x="6756400" y="25400"/>
                  </a:moveTo>
                  <a:lnTo>
                    <a:pt x="6832600" y="25400"/>
                  </a:lnTo>
                  <a:lnTo>
                    <a:pt x="6756400" y="25400"/>
                  </a:lnTo>
                  <a:close/>
                  <a:moveTo>
                    <a:pt x="6934200" y="25400"/>
                  </a:moveTo>
                  <a:lnTo>
                    <a:pt x="7010400" y="25400"/>
                  </a:lnTo>
                  <a:lnTo>
                    <a:pt x="6934200" y="25400"/>
                  </a:lnTo>
                  <a:close/>
                  <a:moveTo>
                    <a:pt x="7112000" y="25400"/>
                  </a:moveTo>
                  <a:lnTo>
                    <a:pt x="7188200" y="25400"/>
                  </a:lnTo>
                  <a:lnTo>
                    <a:pt x="7112000" y="25400"/>
                  </a:lnTo>
                  <a:close/>
                  <a:moveTo>
                    <a:pt x="7289800" y="25400"/>
                  </a:moveTo>
                  <a:lnTo>
                    <a:pt x="7366000" y="25400"/>
                  </a:lnTo>
                  <a:lnTo>
                    <a:pt x="7289800" y="25400"/>
                  </a:lnTo>
                  <a:close/>
                  <a:moveTo>
                    <a:pt x="7467600" y="25400"/>
                  </a:moveTo>
                  <a:lnTo>
                    <a:pt x="7543800" y="25400"/>
                  </a:lnTo>
                  <a:lnTo>
                    <a:pt x="7467600" y="25400"/>
                  </a:lnTo>
                  <a:close/>
                  <a:moveTo>
                    <a:pt x="7645400" y="25400"/>
                  </a:moveTo>
                  <a:lnTo>
                    <a:pt x="7721600" y="25400"/>
                  </a:lnTo>
                  <a:lnTo>
                    <a:pt x="7645400" y="25400"/>
                  </a:lnTo>
                  <a:close/>
                  <a:moveTo>
                    <a:pt x="7823200" y="25400"/>
                  </a:moveTo>
                  <a:lnTo>
                    <a:pt x="7899400" y="25400"/>
                  </a:lnTo>
                  <a:lnTo>
                    <a:pt x="7823200" y="25400"/>
                  </a:lnTo>
                  <a:close/>
                  <a:moveTo>
                    <a:pt x="8001000" y="25400"/>
                  </a:moveTo>
                  <a:lnTo>
                    <a:pt x="8077200" y="25400"/>
                  </a:lnTo>
                  <a:lnTo>
                    <a:pt x="8001000" y="25400"/>
                  </a:lnTo>
                  <a:close/>
                  <a:moveTo>
                    <a:pt x="8178800" y="25400"/>
                  </a:moveTo>
                  <a:lnTo>
                    <a:pt x="8255000" y="25400"/>
                  </a:lnTo>
                  <a:lnTo>
                    <a:pt x="8178800" y="25400"/>
                  </a:lnTo>
                  <a:close/>
                  <a:moveTo>
                    <a:pt x="8356600" y="25400"/>
                  </a:moveTo>
                  <a:lnTo>
                    <a:pt x="8432800" y="25400"/>
                  </a:lnTo>
                  <a:lnTo>
                    <a:pt x="8356600" y="25400"/>
                  </a:lnTo>
                  <a:close/>
                  <a:moveTo>
                    <a:pt x="8534400" y="25400"/>
                  </a:moveTo>
                  <a:lnTo>
                    <a:pt x="8610600" y="25400"/>
                  </a:lnTo>
                  <a:lnTo>
                    <a:pt x="8534400" y="25400"/>
                  </a:lnTo>
                  <a:close/>
                  <a:moveTo>
                    <a:pt x="8712200" y="25400"/>
                  </a:moveTo>
                  <a:lnTo>
                    <a:pt x="8788400" y="25400"/>
                  </a:lnTo>
                  <a:lnTo>
                    <a:pt x="8712200" y="25400"/>
                  </a:lnTo>
                  <a:close/>
                  <a:moveTo>
                    <a:pt x="8890000" y="25400"/>
                  </a:moveTo>
                  <a:lnTo>
                    <a:pt x="8966200" y="25400"/>
                  </a:lnTo>
                  <a:lnTo>
                    <a:pt x="8890000" y="25400"/>
                  </a:lnTo>
                  <a:close/>
                  <a:moveTo>
                    <a:pt x="9067800" y="25400"/>
                  </a:moveTo>
                  <a:lnTo>
                    <a:pt x="9144000" y="25400"/>
                  </a:lnTo>
                  <a:lnTo>
                    <a:pt x="9067800" y="25400"/>
                  </a:lnTo>
                  <a:close/>
                  <a:moveTo>
                    <a:pt x="9245600" y="25400"/>
                  </a:moveTo>
                  <a:lnTo>
                    <a:pt x="9321800" y="25400"/>
                  </a:lnTo>
                  <a:lnTo>
                    <a:pt x="9245600" y="25400"/>
                  </a:lnTo>
                  <a:close/>
                  <a:moveTo>
                    <a:pt x="9423400" y="25400"/>
                  </a:moveTo>
                  <a:lnTo>
                    <a:pt x="9499600" y="25400"/>
                  </a:lnTo>
                  <a:lnTo>
                    <a:pt x="9423400" y="25400"/>
                  </a:lnTo>
                  <a:close/>
                  <a:moveTo>
                    <a:pt x="9601200" y="25400"/>
                  </a:moveTo>
                  <a:lnTo>
                    <a:pt x="9677400" y="25400"/>
                  </a:lnTo>
                  <a:lnTo>
                    <a:pt x="9601200" y="25400"/>
                  </a:lnTo>
                  <a:close/>
                  <a:moveTo>
                    <a:pt x="9779000" y="25400"/>
                  </a:moveTo>
                  <a:lnTo>
                    <a:pt x="9855200" y="25400"/>
                  </a:lnTo>
                  <a:lnTo>
                    <a:pt x="9779000" y="25400"/>
                  </a:lnTo>
                  <a:close/>
                  <a:moveTo>
                    <a:pt x="9956800" y="25400"/>
                  </a:moveTo>
                  <a:lnTo>
                    <a:pt x="10033000" y="25400"/>
                  </a:lnTo>
                  <a:lnTo>
                    <a:pt x="9956800" y="25400"/>
                  </a:lnTo>
                  <a:close/>
                  <a:moveTo>
                    <a:pt x="10134600" y="25400"/>
                  </a:moveTo>
                  <a:lnTo>
                    <a:pt x="10210800" y="25400"/>
                  </a:lnTo>
                  <a:lnTo>
                    <a:pt x="10134600" y="25400"/>
                  </a:lnTo>
                  <a:close/>
                  <a:moveTo>
                    <a:pt x="10312400" y="25400"/>
                  </a:moveTo>
                  <a:lnTo>
                    <a:pt x="10388600" y="25400"/>
                  </a:lnTo>
                  <a:lnTo>
                    <a:pt x="10312400" y="25400"/>
                  </a:lnTo>
                  <a:close/>
                  <a:moveTo>
                    <a:pt x="10490200" y="25400"/>
                  </a:moveTo>
                  <a:lnTo>
                    <a:pt x="10566400" y="25400"/>
                  </a:lnTo>
                  <a:lnTo>
                    <a:pt x="10490200" y="25400"/>
                  </a:lnTo>
                  <a:close/>
                  <a:moveTo>
                    <a:pt x="10668000" y="25400"/>
                  </a:moveTo>
                  <a:lnTo>
                    <a:pt x="10744200" y="25400"/>
                  </a:lnTo>
                  <a:lnTo>
                    <a:pt x="10668000" y="25400"/>
                  </a:lnTo>
                  <a:close/>
                  <a:moveTo>
                    <a:pt x="10845800" y="25400"/>
                  </a:moveTo>
                  <a:lnTo>
                    <a:pt x="10922000" y="25400"/>
                  </a:lnTo>
                  <a:lnTo>
                    <a:pt x="10845800" y="25400"/>
                  </a:lnTo>
                  <a:close/>
                  <a:moveTo>
                    <a:pt x="0" y="0"/>
                  </a:moveTo>
                  <a:lnTo>
                    <a:pt x="76200" y="0"/>
                  </a:lnTo>
                  <a:lnTo>
                    <a:pt x="76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89" id="89"/>
          <p:cNvGrpSpPr/>
          <p:nvPr/>
        </p:nvGrpSpPr>
        <p:grpSpPr>
          <a:xfrm rot="-5400000">
            <a:off x="8915400" y="3429000"/>
            <a:ext cx="960120" cy="2633472"/>
            <a:chOff x="0" y="0"/>
            <a:chExt cx="1280160" cy="351129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280160" cy="3511296"/>
            </a:xfrm>
            <a:custGeom>
              <a:avLst/>
              <a:gdLst/>
              <a:ahLst/>
              <a:cxnLst/>
              <a:rect r="r" b="b" t="t" l="l"/>
              <a:pathLst>
                <a:path h="351129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3511296"/>
                  </a:lnTo>
                  <a:lnTo>
                    <a:pt x="0" y="35112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18" t="0" r="-301918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280160" cy="3549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 (%) ↑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591675" y="7808595"/>
            <a:ext cx="8248650" cy="2282190"/>
            <a:chOff x="0" y="0"/>
            <a:chExt cx="10998200" cy="30429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2700" y="12700"/>
              <a:ext cx="10972800" cy="3017520"/>
            </a:xfrm>
            <a:custGeom>
              <a:avLst/>
              <a:gdLst/>
              <a:ahLst/>
              <a:cxnLst/>
              <a:rect r="r" b="b" t="t" l="l"/>
              <a:pathLst>
                <a:path h="3017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0F3460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998200" cy="3042920"/>
            </a:xfrm>
            <a:custGeom>
              <a:avLst/>
              <a:gdLst/>
              <a:ahLst/>
              <a:cxnLst/>
              <a:rect r="r" b="b" t="t" l="l"/>
              <a:pathLst>
                <a:path h="304292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3030220"/>
                  </a:lnTo>
                  <a:cubicBezTo>
                    <a:pt x="10998200" y="3037205"/>
                    <a:pt x="10992485" y="3042920"/>
                    <a:pt x="10985500" y="3042920"/>
                  </a:cubicBezTo>
                  <a:lnTo>
                    <a:pt x="12700" y="3042920"/>
                  </a:lnTo>
                  <a:cubicBezTo>
                    <a:pt x="5715" y="3042920"/>
                    <a:pt x="0" y="3037205"/>
                    <a:pt x="0" y="3030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030220"/>
                  </a:lnTo>
                  <a:lnTo>
                    <a:pt x="12700" y="3030220"/>
                  </a:lnTo>
                  <a:lnTo>
                    <a:pt x="12700" y="3017520"/>
                  </a:lnTo>
                  <a:lnTo>
                    <a:pt x="10985500" y="3017520"/>
                  </a:lnTo>
                  <a:lnTo>
                    <a:pt x="10985500" y="3030220"/>
                  </a:lnTo>
                  <a:lnTo>
                    <a:pt x="10972800" y="303022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875520" y="7886700"/>
            <a:ext cx="7955280" cy="548640"/>
            <a:chOff x="0" y="0"/>
            <a:chExt cx="10607040" cy="7315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SAHI: Slicing Aided Hyper Inference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875520" y="8435340"/>
            <a:ext cx="7955280" cy="1508760"/>
            <a:chOff x="0" y="0"/>
            <a:chExt cx="10607040" cy="20116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607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739" r="0" b="-52739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57150"/>
              <a:ext cx="1060704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Strategy: Slice image → RT-DETR per patch → merge via NMM</a:t>
              </a:r>
            </a:p>
            <a:p>
              <a:pPr algn="l">
                <a:lnSpc>
                  <a:spcPts val="2819"/>
                </a:lnSpc>
              </a:pPr>
              <a:r>
                <a:rPr lang="en-US" sz="2349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Result: +10–30% small object recall | No retraining needed | 2–4× latency trade-off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261330" cy="156210"/>
            <a:chOff x="0" y="0"/>
            <a:chExt cx="2434844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23039" cy="182880"/>
            </a:xfrm>
            <a:custGeom>
              <a:avLst/>
              <a:gdLst/>
              <a:ahLst/>
              <a:cxnLst/>
              <a:rect r="r" b="b" t="t" l="l"/>
              <a:pathLst>
                <a:path h="18288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48439" cy="208280"/>
            </a:xfrm>
            <a:custGeom>
              <a:avLst/>
              <a:gdLst/>
              <a:ahLst/>
              <a:cxnLst/>
              <a:rect r="r" b="b" t="t" l="l"/>
              <a:pathLst>
                <a:path h="208280" w="24348439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95580"/>
                  </a:lnTo>
                  <a:cubicBezTo>
                    <a:pt x="24348439" y="202565"/>
                    <a:pt x="24342725" y="208280"/>
                    <a:pt x="24335739" y="208280"/>
                  </a:cubicBezTo>
                  <a:lnTo>
                    <a:pt x="12700" y="208280"/>
                  </a:lnTo>
                  <a:cubicBezTo>
                    <a:pt x="5715" y="208280"/>
                    <a:pt x="0" y="202565"/>
                    <a:pt x="0" y="1955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95580"/>
                  </a:lnTo>
                  <a:lnTo>
                    <a:pt x="12700" y="195580"/>
                  </a:lnTo>
                  <a:lnTo>
                    <a:pt x="12700" y="182880"/>
                  </a:lnTo>
                  <a:lnTo>
                    <a:pt x="24335739" y="182880"/>
                  </a:lnTo>
                  <a:lnTo>
                    <a:pt x="24335739" y="195580"/>
                  </a:lnTo>
                  <a:lnTo>
                    <a:pt x="24323039" y="19558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754380"/>
            <a:ext cx="17145000" cy="891540"/>
            <a:chOff x="0" y="0"/>
            <a:chExt cx="22860000" cy="1188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60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86000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Individual Member Contributions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0535" y="1842135"/>
            <a:ext cx="5422121" cy="7700010"/>
            <a:chOff x="0" y="0"/>
            <a:chExt cx="7229495" cy="10266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658" y="12700"/>
              <a:ext cx="7196179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7196179">
                  <a:moveTo>
                    <a:pt x="0" y="0"/>
                  </a:moveTo>
                  <a:lnTo>
                    <a:pt x="7196179" y="0"/>
                  </a:lnTo>
                  <a:lnTo>
                    <a:pt x="7196179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0F346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29494" cy="10266680"/>
            </a:xfrm>
            <a:custGeom>
              <a:avLst/>
              <a:gdLst/>
              <a:ahLst/>
              <a:cxnLst/>
              <a:rect r="r" b="b" t="t" l="l"/>
              <a:pathLst>
                <a:path h="10266680" w="7229494">
                  <a:moveTo>
                    <a:pt x="16658" y="0"/>
                  </a:moveTo>
                  <a:lnTo>
                    <a:pt x="7212837" y="0"/>
                  </a:lnTo>
                  <a:cubicBezTo>
                    <a:pt x="7221999" y="0"/>
                    <a:pt x="7229494" y="5715"/>
                    <a:pt x="7229494" y="12700"/>
                  </a:cubicBezTo>
                  <a:lnTo>
                    <a:pt x="7229494" y="10253980"/>
                  </a:lnTo>
                  <a:cubicBezTo>
                    <a:pt x="7229494" y="10260965"/>
                    <a:pt x="7221999" y="10266680"/>
                    <a:pt x="7212837" y="10266680"/>
                  </a:cubicBezTo>
                  <a:lnTo>
                    <a:pt x="16658" y="10266680"/>
                  </a:lnTo>
                  <a:cubicBezTo>
                    <a:pt x="7496" y="10266680"/>
                    <a:pt x="0" y="10260965"/>
                    <a:pt x="0" y="10253980"/>
                  </a:cubicBezTo>
                  <a:lnTo>
                    <a:pt x="0" y="12700"/>
                  </a:lnTo>
                  <a:cubicBezTo>
                    <a:pt x="0" y="5715"/>
                    <a:pt x="7496" y="0"/>
                    <a:pt x="16658" y="0"/>
                  </a:cubicBezTo>
                  <a:moveTo>
                    <a:pt x="16658" y="25400"/>
                  </a:moveTo>
                  <a:lnTo>
                    <a:pt x="16658" y="12700"/>
                  </a:lnTo>
                  <a:lnTo>
                    <a:pt x="33316" y="12700"/>
                  </a:lnTo>
                  <a:lnTo>
                    <a:pt x="33316" y="10253980"/>
                  </a:lnTo>
                  <a:lnTo>
                    <a:pt x="16658" y="10253980"/>
                  </a:lnTo>
                  <a:lnTo>
                    <a:pt x="16658" y="10241280"/>
                  </a:lnTo>
                  <a:lnTo>
                    <a:pt x="7212837" y="10241280"/>
                  </a:lnTo>
                  <a:lnTo>
                    <a:pt x="7212837" y="10253980"/>
                  </a:lnTo>
                  <a:lnTo>
                    <a:pt x="7196179" y="10253980"/>
                  </a:lnTo>
                  <a:lnTo>
                    <a:pt x="7196179" y="12700"/>
                  </a:lnTo>
                  <a:lnTo>
                    <a:pt x="7212837" y="12700"/>
                  </a:lnTo>
                  <a:lnTo>
                    <a:pt x="7212837" y="25400"/>
                  </a:lnTo>
                  <a:lnTo>
                    <a:pt x="16658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70535" y="1842135"/>
            <a:ext cx="5422121" cy="1184910"/>
            <a:chOff x="0" y="0"/>
            <a:chExt cx="7229495" cy="1579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658" y="12700"/>
              <a:ext cx="7196179" cy="1554480"/>
            </a:xfrm>
            <a:custGeom>
              <a:avLst/>
              <a:gdLst/>
              <a:ahLst/>
              <a:cxnLst/>
              <a:rect r="r" b="b" t="t" l="l"/>
              <a:pathLst>
                <a:path h="1554480" w="7196179">
                  <a:moveTo>
                    <a:pt x="0" y="0"/>
                  </a:moveTo>
                  <a:lnTo>
                    <a:pt x="7196179" y="0"/>
                  </a:lnTo>
                  <a:lnTo>
                    <a:pt x="7196179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29494" cy="1579880"/>
            </a:xfrm>
            <a:custGeom>
              <a:avLst/>
              <a:gdLst/>
              <a:ahLst/>
              <a:cxnLst/>
              <a:rect r="r" b="b" t="t" l="l"/>
              <a:pathLst>
                <a:path h="1579880" w="7229494">
                  <a:moveTo>
                    <a:pt x="16658" y="0"/>
                  </a:moveTo>
                  <a:lnTo>
                    <a:pt x="7212837" y="0"/>
                  </a:lnTo>
                  <a:cubicBezTo>
                    <a:pt x="7221999" y="0"/>
                    <a:pt x="7229494" y="5715"/>
                    <a:pt x="7229494" y="12700"/>
                  </a:cubicBezTo>
                  <a:lnTo>
                    <a:pt x="7229494" y="1567180"/>
                  </a:lnTo>
                  <a:cubicBezTo>
                    <a:pt x="7229494" y="1574165"/>
                    <a:pt x="7221999" y="1579880"/>
                    <a:pt x="7212837" y="1579880"/>
                  </a:cubicBezTo>
                  <a:lnTo>
                    <a:pt x="16658" y="1579880"/>
                  </a:lnTo>
                  <a:cubicBezTo>
                    <a:pt x="7496" y="1579880"/>
                    <a:pt x="0" y="1574165"/>
                    <a:pt x="0" y="1567180"/>
                  </a:cubicBezTo>
                  <a:lnTo>
                    <a:pt x="0" y="12700"/>
                  </a:lnTo>
                  <a:cubicBezTo>
                    <a:pt x="0" y="5715"/>
                    <a:pt x="7496" y="0"/>
                    <a:pt x="16658" y="0"/>
                  </a:cubicBezTo>
                  <a:moveTo>
                    <a:pt x="16658" y="25400"/>
                  </a:moveTo>
                  <a:lnTo>
                    <a:pt x="16658" y="12700"/>
                  </a:lnTo>
                  <a:lnTo>
                    <a:pt x="33316" y="12700"/>
                  </a:lnTo>
                  <a:lnTo>
                    <a:pt x="33316" y="1567180"/>
                  </a:lnTo>
                  <a:lnTo>
                    <a:pt x="16658" y="1567180"/>
                  </a:lnTo>
                  <a:lnTo>
                    <a:pt x="16658" y="1554480"/>
                  </a:lnTo>
                  <a:lnTo>
                    <a:pt x="7212837" y="1554480"/>
                  </a:lnTo>
                  <a:lnTo>
                    <a:pt x="7212837" y="1567180"/>
                  </a:lnTo>
                  <a:lnTo>
                    <a:pt x="7196179" y="1567180"/>
                  </a:lnTo>
                  <a:lnTo>
                    <a:pt x="7196179" y="12700"/>
                  </a:lnTo>
                  <a:lnTo>
                    <a:pt x="7212837" y="12700"/>
                  </a:lnTo>
                  <a:lnTo>
                    <a:pt x="7212837" y="25400"/>
                  </a:lnTo>
                  <a:lnTo>
                    <a:pt x="16658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43881" y="1892808"/>
            <a:ext cx="3840480" cy="842218"/>
            <a:chOff x="0" y="0"/>
            <a:chExt cx="5120640" cy="11229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20640" cy="1122958"/>
            </a:xfrm>
            <a:custGeom>
              <a:avLst/>
              <a:gdLst/>
              <a:ahLst/>
              <a:cxnLst/>
              <a:rect r="r" b="b" t="t" l="l"/>
              <a:pathLst>
                <a:path h="112295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122958"/>
                  </a:lnTo>
                  <a:lnTo>
                    <a:pt x="0" y="11229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08" r="0" b="-2549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120640" cy="1161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Prateek Agrahari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(B23BB1045)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85800" y="3107055"/>
            <a:ext cx="4556642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✓  Literature review: EMA, RepVGG, PConv papers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5800" y="4341495"/>
            <a:ext cx="4556642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✓  Designed &amp; implemented EMAModule in PyTorch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5800" y="6810375"/>
            <a:ext cx="455664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✓  Wrote Section 2 of report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233042" y="1842135"/>
            <a:ext cx="5794590" cy="7700010"/>
            <a:chOff x="0" y="0"/>
            <a:chExt cx="7726120" cy="10266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7802" y="12700"/>
              <a:ext cx="7690516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7690516">
                  <a:moveTo>
                    <a:pt x="0" y="0"/>
                  </a:moveTo>
                  <a:lnTo>
                    <a:pt x="7690516" y="0"/>
                  </a:lnTo>
                  <a:lnTo>
                    <a:pt x="7690516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0F346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726120" cy="10266680"/>
            </a:xfrm>
            <a:custGeom>
              <a:avLst/>
              <a:gdLst/>
              <a:ahLst/>
              <a:cxnLst/>
              <a:rect r="r" b="b" t="t" l="l"/>
              <a:pathLst>
                <a:path h="10266680" w="7726120">
                  <a:moveTo>
                    <a:pt x="17802" y="0"/>
                  </a:moveTo>
                  <a:lnTo>
                    <a:pt x="7708318" y="0"/>
                  </a:lnTo>
                  <a:cubicBezTo>
                    <a:pt x="7718109" y="0"/>
                    <a:pt x="7726120" y="5715"/>
                    <a:pt x="7726120" y="12700"/>
                  </a:cubicBezTo>
                  <a:lnTo>
                    <a:pt x="7726120" y="10253980"/>
                  </a:lnTo>
                  <a:cubicBezTo>
                    <a:pt x="7726120" y="10260965"/>
                    <a:pt x="7718109" y="10266680"/>
                    <a:pt x="7708318" y="10266680"/>
                  </a:cubicBezTo>
                  <a:lnTo>
                    <a:pt x="17802" y="10266680"/>
                  </a:lnTo>
                  <a:cubicBezTo>
                    <a:pt x="8011" y="10266680"/>
                    <a:pt x="0" y="10260965"/>
                    <a:pt x="0" y="10253980"/>
                  </a:cubicBezTo>
                  <a:lnTo>
                    <a:pt x="0" y="12700"/>
                  </a:lnTo>
                  <a:cubicBezTo>
                    <a:pt x="0" y="5715"/>
                    <a:pt x="8011" y="0"/>
                    <a:pt x="17802" y="0"/>
                  </a:cubicBezTo>
                  <a:moveTo>
                    <a:pt x="17802" y="25400"/>
                  </a:moveTo>
                  <a:lnTo>
                    <a:pt x="17802" y="12700"/>
                  </a:lnTo>
                  <a:lnTo>
                    <a:pt x="35604" y="12700"/>
                  </a:lnTo>
                  <a:lnTo>
                    <a:pt x="35604" y="10253980"/>
                  </a:lnTo>
                  <a:lnTo>
                    <a:pt x="17802" y="10253980"/>
                  </a:lnTo>
                  <a:lnTo>
                    <a:pt x="17802" y="10241280"/>
                  </a:lnTo>
                  <a:lnTo>
                    <a:pt x="7708318" y="10241280"/>
                  </a:lnTo>
                  <a:lnTo>
                    <a:pt x="7708318" y="10253980"/>
                  </a:lnTo>
                  <a:lnTo>
                    <a:pt x="7690516" y="10253980"/>
                  </a:lnTo>
                  <a:lnTo>
                    <a:pt x="7690516" y="12700"/>
                  </a:lnTo>
                  <a:lnTo>
                    <a:pt x="7708318" y="12700"/>
                  </a:lnTo>
                  <a:lnTo>
                    <a:pt x="7708318" y="25400"/>
                  </a:lnTo>
                  <a:lnTo>
                    <a:pt x="17802" y="25400"/>
                  </a:lnTo>
                  <a:close/>
                </a:path>
              </a:pathLst>
            </a:custGeom>
            <a:solidFill>
              <a:srgbClr val="4ADE80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465656" y="3227070"/>
            <a:ext cx="4556642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✓  Integrated EMA after PP-HGNet Stem block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233042" y="1842135"/>
            <a:ext cx="5794590" cy="1184910"/>
            <a:chOff x="0" y="0"/>
            <a:chExt cx="7726120" cy="15798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7802" y="12700"/>
              <a:ext cx="7690516" cy="1554480"/>
            </a:xfrm>
            <a:custGeom>
              <a:avLst/>
              <a:gdLst/>
              <a:ahLst/>
              <a:cxnLst/>
              <a:rect r="r" b="b" t="t" l="l"/>
              <a:pathLst>
                <a:path h="1554480" w="7690516">
                  <a:moveTo>
                    <a:pt x="0" y="0"/>
                  </a:moveTo>
                  <a:lnTo>
                    <a:pt x="7690516" y="0"/>
                  </a:lnTo>
                  <a:lnTo>
                    <a:pt x="7690516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4ADE8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726120" cy="1579880"/>
            </a:xfrm>
            <a:custGeom>
              <a:avLst/>
              <a:gdLst/>
              <a:ahLst/>
              <a:cxnLst/>
              <a:rect r="r" b="b" t="t" l="l"/>
              <a:pathLst>
                <a:path h="1579880" w="7726120">
                  <a:moveTo>
                    <a:pt x="17802" y="0"/>
                  </a:moveTo>
                  <a:lnTo>
                    <a:pt x="7708318" y="0"/>
                  </a:lnTo>
                  <a:cubicBezTo>
                    <a:pt x="7718109" y="0"/>
                    <a:pt x="7726120" y="5715"/>
                    <a:pt x="7726120" y="12700"/>
                  </a:cubicBezTo>
                  <a:lnTo>
                    <a:pt x="7726120" y="1567180"/>
                  </a:lnTo>
                  <a:cubicBezTo>
                    <a:pt x="7726120" y="1574165"/>
                    <a:pt x="7718109" y="1579880"/>
                    <a:pt x="7708318" y="1579880"/>
                  </a:cubicBezTo>
                  <a:lnTo>
                    <a:pt x="17802" y="1579880"/>
                  </a:lnTo>
                  <a:cubicBezTo>
                    <a:pt x="8011" y="1579880"/>
                    <a:pt x="0" y="1574165"/>
                    <a:pt x="0" y="1567180"/>
                  </a:cubicBezTo>
                  <a:lnTo>
                    <a:pt x="0" y="12700"/>
                  </a:lnTo>
                  <a:cubicBezTo>
                    <a:pt x="0" y="5715"/>
                    <a:pt x="8011" y="0"/>
                    <a:pt x="17802" y="0"/>
                  </a:cubicBezTo>
                  <a:moveTo>
                    <a:pt x="17802" y="25400"/>
                  </a:moveTo>
                  <a:lnTo>
                    <a:pt x="17802" y="12700"/>
                  </a:lnTo>
                  <a:lnTo>
                    <a:pt x="35604" y="12700"/>
                  </a:lnTo>
                  <a:lnTo>
                    <a:pt x="35604" y="1567180"/>
                  </a:lnTo>
                  <a:lnTo>
                    <a:pt x="17802" y="1567180"/>
                  </a:lnTo>
                  <a:lnTo>
                    <a:pt x="17802" y="1554480"/>
                  </a:lnTo>
                  <a:lnTo>
                    <a:pt x="7708318" y="1554480"/>
                  </a:lnTo>
                  <a:lnTo>
                    <a:pt x="7708318" y="1567180"/>
                  </a:lnTo>
                  <a:lnTo>
                    <a:pt x="7690516" y="1567180"/>
                  </a:lnTo>
                  <a:lnTo>
                    <a:pt x="7690516" y="12700"/>
                  </a:lnTo>
                  <a:lnTo>
                    <a:pt x="7708318" y="12700"/>
                  </a:lnTo>
                  <a:lnTo>
                    <a:pt x="7708318" y="25400"/>
                  </a:lnTo>
                  <a:lnTo>
                    <a:pt x="17802" y="25400"/>
                  </a:ln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210097" y="1892808"/>
            <a:ext cx="3840480" cy="842218"/>
            <a:chOff x="0" y="0"/>
            <a:chExt cx="5120640" cy="11229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20640" cy="1122958"/>
            </a:xfrm>
            <a:custGeom>
              <a:avLst/>
              <a:gdLst/>
              <a:ahLst/>
              <a:cxnLst/>
              <a:rect r="r" b="b" t="t" l="l"/>
              <a:pathLst>
                <a:path h="112295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122958"/>
                  </a:lnTo>
                  <a:lnTo>
                    <a:pt x="0" y="11229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08" r="0" b="-2549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120640" cy="1161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Ameen Rahman KT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(B23BB1007)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471701" y="4307205"/>
            <a:ext cx="5213994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✓  Verified mathematical equivalence (train vs fused)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471701" y="5541645"/>
            <a:ext cx="5213994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✓  Implemented PartialRepBlock combining both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71701" y="6776085"/>
            <a:ext cx="521399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✓  Ran ablation study and latency benchmarks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245512" y="1842135"/>
            <a:ext cx="5526233" cy="7700010"/>
            <a:chOff x="0" y="0"/>
            <a:chExt cx="7368311" cy="102666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978" y="12700"/>
              <a:ext cx="7334356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7334356">
                  <a:moveTo>
                    <a:pt x="0" y="0"/>
                  </a:moveTo>
                  <a:lnTo>
                    <a:pt x="7334355" y="0"/>
                  </a:lnTo>
                  <a:lnTo>
                    <a:pt x="7334355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0F346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68311" cy="10266680"/>
            </a:xfrm>
            <a:custGeom>
              <a:avLst/>
              <a:gdLst/>
              <a:ahLst/>
              <a:cxnLst/>
              <a:rect r="r" b="b" t="t" l="l"/>
              <a:pathLst>
                <a:path h="10266680" w="7368311">
                  <a:moveTo>
                    <a:pt x="16978" y="0"/>
                  </a:moveTo>
                  <a:lnTo>
                    <a:pt x="7351333" y="0"/>
                  </a:lnTo>
                  <a:cubicBezTo>
                    <a:pt x="7360671" y="0"/>
                    <a:pt x="7368311" y="5715"/>
                    <a:pt x="7368311" y="12700"/>
                  </a:cubicBezTo>
                  <a:lnTo>
                    <a:pt x="7368311" y="10253980"/>
                  </a:lnTo>
                  <a:cubicBezTo>
                    <a:pt x="7368311" y="10260965"/>
                    <a:pt x="7360671" y="10266680"/>
                    <a:pt x="7351333" y="10266680"/>
                  </a:cubicBezTo>
                  <a:lnTo>
                    <a:pt x="16978" y="10266680"/>
                  </a:lnTo>
                  <a:cubicBezTo>
                    <a:pt x="7640" y="10266680"/>
                    <a:pt x="0" y="10260965"/>
                    <a:pt x="0" y="10253980"/>
                  </a:cubicBezTo>
                  <a:lnTo>
                    <a:pt x="0" y="12700"/>
                  </a:lnTo>
                  <a:cubicBezTo>
                    <a:pt x="0" y="5715"/>
                    <a:pt x="7640" y="0"/>
                    <a:pt x="16978" y="0"/>
                  </a:cubicBezTo>
                  <a:moveTo>
                    <a:pt x="16978" y="25400"/>
                  </a:moveTo>
                  <a:lnTo>
                    <a:pt x="16978" y="12700"/>
                  </a:lnTo>
                  <a:lnTo>
                    <a:pt x="33955" y="12700"/>
                  </a:lnTo>
                  <a:lnTo>
                    <a:pt x="33955" y="10253980"/>
                  </a:lnTo>
                  <a:lnTo>
                    <a:pt x="16978" y="10253980"/>
                  </a:lnTo>
                  <a:lnTo>
                    <a:pt x="16978" y="10241280"/>
                  </a:lnTo>
                  <a:lnTo>
                    <a:pt x="7351333" y="10241280"/>
                  </a:lnTo>
                  <a:lnTo>
                    <a:pt x="7351333" y="10253980"/>
                  </a:lnTo>
                  <a:lnTo>
                    <a:pt x="7334356" y="10253980"/>
                  </a:lnTo>
                  <a:lnTo>
                    <a:pt x="7334356" y="12700"/>
                  </a:lnTo>
                  <a:lnTo>
                    <a:pt x="7351333" y="12700"/>
                  </a:lnTo>
                  <a:lnTo>
                    <a:pt x="7351333" y="25400"/>
                  </a:lnTo>
                  <a:lnTo>
                    <a:pt x="16978" y="25400"/>
                  </a:ln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672284" y="4154805"/>
            <a:ext cx="5213994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✓  Implemented RepBlock with re-parameterisation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245512" y="1842135"/>
            <a:ext cx="5526233" cy="1184910"/>
            <a:chOff x="0" y="0"/>
            <a:chExt cx="7368311" cy="15798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978" y="12700"/>
              <a:ext cx="7334356" cy="1554480"/>
            </a:xfrm>
            <a:custGeom>
              <a:avLst/>
              <a:gdLst/>
              <a:ahLst/>
              <a:cxnLst/>
              <a:rect r="r" b="b" t="t" l="l"/>
              <a:pathLst>
                <a:path h="1554480" w="7334356">
                  <a:moveTo>
                    <a:pt x="0" y="0"/>
                  </a:moveTo>
                  <a:lnTo>
                    <a:pt x="7334355" y="0"/>
                  </a:lnTo>
                  <a:lnTo>
                    <a:pt x="7334355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FF98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68311" cy="1579880"/>
            </a:xfrm>
            <a:custGeom>
              <a:avLst/>
              <a:gdLst/>
              <a:ahLst/>
              <a:cxnLst/>
              <a:rect r="r" b="b" t="t" l="l"/>
              <a:pathLst>
                <a:path h="1579880" w="7368311">
                  <a:moveTo>
                    <a:pt x="16978" y="0"/>
                  </a:moveTo>
                  <a:lnTo>
                    <a:pt x="7351333" y="0"/>
                  </a:lnTo>
                  <a:cubicBezTo>
                    <a:pt x="7360671" y="0"/>
                    <a:pt x="7368311" y="5715"/>
                    <a:pt x="7368311" y="12700"/>
                  </a:cubicBezTo>
                  <a:lnTo>
                    <a:pt x="7368311" y="1567180"/>
                  </a:lnTo>
                  <a:cubicBezTo>
                    <a:pt x="7368311" y="1574165"/>
                    <a:pt x="7360671" y="1579880"/>
                    <a:pt x="7351333" y="1579880"/>
                  </a:cubicBezTo>
                  <a:lnTo>
                    <a:pt x="16978" y="1579880"/>
                  </a:lnTo>
                  <a:cubicBezTo>
                    <a:pt x="7640" y="1579880"/>
                    <a:pt x="0" y="1574165"/>
                    <a:pt x="0" y="1567180"/>
                  </a:cubicBezTo>
                  <a:lnTo>
                    <a:pt x="0" y="12700"/>
                  </a:lnTo>
                  <a:cubicBezTo>
                    <a:pt x="0" y="5715"/>
                    <a:pt x="7640" y="0"/>
                    <a:pt x="16978" y="0"/>
                  </a:cubicBezTo>
                  <a:moveTo>
                    <a:pt x="16978" y="25400"/>
                  </a:moveTo>
                  <a:lnTo>
                    <a:pt x="16978" y="12700"/>
                  </a:lnTo>
                  <a:lnTo>
                    <a:pt x="33955" y="12700"/>
                  </a:lnTo>
                  <a:lnTo>
                    <a:pt x="33955" y="1567180"/>
                  </a:lnTo>
                  <a:lnTo>
                    <a:pt x="16978" y="1567180"/>
                  </a:lnTo>
                  <a:lnTo>
                    <a:pt x="16978" y="1554480"/>
                  </a:lnTo>
                  <a:lnTo>
                    <a:pt x="7351333" y="1554480"/>
                  </a:lnTo>
                  <a:lnTo>
                    <a:pt x="7351333" y="1567180"/>
                  </a:lnTo>
                  <a:lnTo>
                    <a:pt x="7334356" y="1567180"/>
                  </a:lnTo>
                  <a:lnTo>
                    <a:pt x="7334356" y="12700"/>
                  </a:lnTo>
                  <a:lnTo>
                    <a:pt x="7351333" y="12700"/>
                  </a:lnTo>
                  <a:lnTo>
                    <a:pt x="7351333" y="25400"/>
                  </a:lnTo>
                  <a:lnTo>
                    <a:pt x="16978" y="25400"/>
                  </a:lnTo>
                  <a:close/>
                </a:path>
              </a:pathLst>
            </a:custGeom>
            <a:solidFill>
              <a:srgbClr val="FF980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645606" y="1892808"/>
            <a:ext cx="4937552" cy="842218"/>
            <a:chOff x="0" y="0"/>
            <a:chExt cx="6583403" cy="112295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83403" cy="1122958"/>
            </a:xfrm>
            <a:custGeom>
              <a:avLst/>
              <a:gdLst/>
              <a:ahLst/>
              <a:cxnLst/>
              <a:rect r="r" b="b" t="t" l="l"/>
              <a:pathLst>
                <a:path h="1122958" w="6583403">
                  <a:moveTo>
                    <a:pt x="0" y="0"/>
                  </a:moveTo>
                  <a:lnTo>
                    <a:pt x="6583403" y="0"/>
                  </a:lnTo>
                  <a:lnTo>
                    <a:pt x="6583403" y="1122958"/>
                  </a:lnTo>
                  <a:lnTo>
                    <a:pt x="0" y="11229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08" r="22218" b="-2549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583403" cy="1161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Vatsal Kumar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(B23BB1045)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2672284" y="3107055"/>
            <a:ext cx="458701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✓  Base RT-DETR + YOLO comparison notebook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85800" y="5579745"/>
            <a:ext cx="458701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✓  SAHI integration &amp; small object evaluation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672284" y="5575935"/>
            <a:ext cx="458701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✓  3-way visual comparison outputs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672284" y="6810375"/>
            <a:ext cx="458701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✓  Wrote Section 3 (experiments) of report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470535" y="9660255"/>
            <a:ext cx="17301210" cy="636270"/>
            <a:chOff x="0" y="0"/>
            <a:chExt cx="23068280" cy="848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2700" y="12700"/>
              <a:ext cx="23042880" cy="822960"/>
            </a:xfrm>
            <a:custGeom>
              <a:avLst/>
              <a:gdLst/>
              <a:ahLst/>
              <a:cxnLst/>
              <a:rect r="r" b="b" t="t" l="l"/>
              <a:pathLst>
                <a:path h="822960" w="23042880">
                  <a:moveTo>
                    <a:pt x="0" y="0"/>
                  </a:moveTo>
                  <a:lnTo>
                    <a:pt x="23042880" y="0"/>
                  </a:lnTo>
                  <a:lnTo>
                    <a:pt x="2304288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0F346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3068280" cy="848360"/>
            </a:xfrm>
            <a:custGeom>
              <a:avLst/>
              <a:gdLst/>
              <a:ahLst/>
              <a:cxnLst/>
              <a:rect r="r" b="b" t="t" l="l"/>
              <a:pathLst>
                <a:path h="848360" w="23068280">
                  <a:moveTo>
                    <a:pt x="12700" y="0"/>
                  </a:moveTo>
                  <a:lnTo>
                    <a:pt x="23055580" y="0"/>
                  </a:lnTo>
                  <a:cubicBezTo>
                    <a:pt x="23062566" y="0"/>
                    <a:pt x="23068280" y="5715"/>
                    <a:pt x="23068280" y="12700"/>
                  </a:cubicBezTo>
                  <a:lnTo>
                    <a:pt x="23068280" y="835660"/>
                  </a:lnTo>
                  <a:cubicBezTo>
                    <a:pt x="23068280" y="842645"/>
                    <a:pt x="23062566" y="848360"/>
                    <a:pt x="23055580" y="848360"/>
                  </a:cubicBezTo>
                  <a:lnTo>
                    <a:pt x="12700" y="848360"/>
                  </a:lnTo>
                  <a:cubicBezTo>
                    <a:pt x="5715" y="848360"/>
                    <a:pt x="0" y="842645"/>
                    <a:pt x="0" y="8356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35660"/>
                  </a:lnTo>
                  <a:lnTo>
                    <a:pt x="12700" y="835660"/>
                  </a:lnTo>
                  <a:lnTo>
                    <a:pt x="12700" y="822960"/>
                  </a:lnTo>
                  <a:lnTo>
                    <a:pt x="23055580" y="822960"/>
                  </a:lnTo>
                  <a:lnTo>
                    <a:pt x="23055580" y="835660"/>
                  </a:lnTo>
                  <a:lnTo>
                    <a:pt x="23042880" y="835660"/>
                  </a:lnTo>
                  <a:lnTo>
                    <a:pt x="23042880" y="12700"/>
                  </a:lnTo>
                  <a:lnTo>
                    <a:pt x="23055580" y="12700"/>
                  </a:lnTo>
                  <a:lnTo>
                    <a:pt x="230555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85800" y="9669780"/>
            <a:ext cx="16870680" cy="617220"/>
            <a:chOff x="0" y="0"/>
            <a:chExt cx="22494240" cy="8229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494239" cy="822960"/>
            </a:xfrm>
            <a:custGeom>
              <a:avLst/>
              <a:gdLst/>
              <a:ahLst/>
              <a:cxnLst/>
              <a:rect r="r" b="b" t="t" l="l"/>
              <a:pathLst>
                <a:path h="82296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591" r="0" b="-48259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2249424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9"/>
                </a:lnSpc>
              </a:pPr>
              <a:r>
                <a:rPr lang="en-US" sz="2349" i="true">
                  <a:solidFill>
                    <a:srgbClr val="E2E8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All members contributed to code review, testing, and final presentation preparation.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DAHE-JkuLcI</dc:identifier>
  <dcterms:modified xsi:type="dcterms:W3CDTF">2011-08-01T06:04:30Z</dcterms:modified>
  <cp:revision>1</cp:revision>
  <dc:title>Phase2_Presentation.pptx</dc:title>
</cp:coreProperties>
</file>